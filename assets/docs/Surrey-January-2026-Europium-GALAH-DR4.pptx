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7"/>
  </p:notesMasterIdLst>
  <p:sldIdLst>
    <p:sldId id="256" r:id="rId2"/>
    <p:sldId id="263" r:id="rId3"/>
    <p:sldId id="291" r:id="rId4"/>
    <p:sldId id="292" r:id="rId5"/>
    <p:sldId id="345" r:id="rId6"/>
    <p:sldId id="293" r:id="rId7"/>
    <p:sldId id="264" r:id="rId8"/>
    <p:sldId id="289" r:id="rId9"/>
    <p:sldId id="372" r:id="rId10"/>
    <p:sldId id="269" r:id="rId11"/>
    <p:sldId id="282" r:id="rId12"/>
    <p:sldId id="258" r:id="rId13"/>
    <p:sldId id="287" r:id="rId14"/>
    <p:sldId id="288" r:id="rId15"/>
    <p:sldId id="359" r:id="rId16"/>
    <p:sldId id="266" r:id="rId17"/>
    <p:sldId id="267" r:id="rId18"/>
    <p:sldId id="265" r:id="rId19"/>
    <p:sldId id="268" r:id="rId20"/>
    <p:sldId id="367" r:id="rId21"/>
    <p:sldId id="341" r:id="rId22"/>
    <p:sldId id="342" r:id="rId23"/>
    <p:sldId id="350" r:id="rId24"/>
    <p:sldId id="349" r:id="rId25"/>
    <p:sldId id="361" r:id="rId26"/>
    <p:sldId id="373" r:id="rId27"/>
    <p:sldId id="364" r:id="rId28"/>
    <p:sldId id="374" r:id="rId29"/>
    <p:sldId id="348" r:id="rId30"/>
    <p:sldId id="262" r:id="rId31"/>
    <p:sldId id="347" r:id="rId32"/>
    <p:sldId id="346" r:id="rId33"/>
    <p:sldId id="261" r:id="rId34"/>
    <p:sldId id="285" r:id="rId35"/>
    <p:sldId id="352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269"/>
    <a:srgbClr val="FF9043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43"/>
    <p:restoredTop sz="94675"/>
  </p:normalViewPr>
  <p:slideViewPr>
    <p:cSldViewPr snapToGrid="0">
      <p:cViewPr varScale="1">
        <p:scale>
          <a:sx n="127" d="100"/>
          <a:sy n="127" d="100"/>
        </p:scale>
        <p:origin x="1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68D9C-BBED-B043-89BE-594E3E8E1F53}" type="datetimeFigureOut">
              <a:rPr lang="en-US" smtClean="0"/>
              <a:t>7/30/26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E4DA0-6663-6E42-9CCF-6D958FE8D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28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4DA0-6663-6E42-9CCF-6D958FE8DC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1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4DA0-6663-6E42-9CCF-6D958FE8DC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56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CB0C0-D3B5-62B5-DBA0-E3B819954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FAE8C-5CD8-1239-3A49-33A66983C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87CEA-B33D-9081-6A6F-479CE2446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00B7D-9751-5121-CF68-A661FFDB70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4DA0-6663-6E42-9CCF-6D958FE8DC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19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14D64-A3F2-B321-6DD5-2A26A6CF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DDA03-1CD1-281F-7E74-AD813C432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80A2F-E626-8EDE-43B5-104480496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7E640-F9D8-1FBF-21BF-E64564547C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4DA0-6663-6E42-9CCF-6D958FE8DC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95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BD96C-AA5F-50A4-08DB-149B7A7F8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246F9-A662-BC57-3A40-E0AAD298F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11588C-A566-FEC4-8E53-906273257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14FB8-A479-5626-01E1-1AC60F951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4DA0-6663-6E42-9CCF-6D958FE8DC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15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4DA0-6663-6E42-9CCF-6D958FE8DCC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53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4DA0-6663-6E42-9CCF-6D958FE8DC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07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4DA0-6663-6E42-9CCF-6D958FE8DCC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4DA0-6663-6E42-9CCF-6D958FE8DCC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92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27596A-CBC4-4A46-9BFC-0AE55CAA0D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611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4DA0-6663-6E42-9CCF-6D958FE8DCC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323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4DA0-6663-6E42-9CCF-6D958FE8DCC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51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1B7C7-A846-A902-1962-EC9E95352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9593A-286F-8503-44DB-E4640CA9C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23B5D0-12F5-7743-5D52-03A878E43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FE56B-7EC0-00D7-22D1-C382C000B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4DA0-6663-6E42-9CCF-6D958FE8DCC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630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4DA0-6663-6E42-9CCF-6D958FE8DCC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802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2175F-229D-9541-5ECE-F28E556D6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F9BFBA-4002-CAA8-5F50-59F173904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1771E1-E54D-2B17-BB84-B508F7582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2F794-DC58-90A1-D785-A21DB0A6C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4DA0-6663-6E42-9CCF-6D958FE8DCC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279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4DA0-6663-6E42-9CCF-6D958FE8DCC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664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4DA0-6663-6E42-9CCF-6D958FE8DCC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20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23F0-CDA7-F442-9DC1-69E93F940448}" type="datetime1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65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4AB35-904B-C94A-A7AF-7E410175038A}" type="datetime1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00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EEDC9-8B26-6B46-B367-C8F066BBF5A5}" type="datetime1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2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D6899-4CAE-3C44-851D-EB853E3DC545}" type="datetime1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57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9B62E-30B0-C04E-9979-A66DC87E35E6}" type="datetime1">
              <a:rPr lang="en-US" smtClean="0"/>
              <a:t>7/30/26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92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9B88D-43AB-FB4B-9C9E-D3441E9AA180}" type="datetime1">
              <a:rPr lang="en-US" smtClean="0"/>
              <a:t>7/30/26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47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776BB-4755-364B-A771-0C1A9B9C3D5C}" type="datetime1">
              <a:rPr lang="en-US" smtClean="0"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13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E2762-7A82-104E-BF86-0678984ABDC4}" type="datetime1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6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F55B9-31FC-F84A-B83A-D40BF85F07DE}" type="datetime1">
              <a:rPr lang="en-US" smtClean="0"/>
              <a:t>7/30/26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630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8E03-FB90-A445-A965-DF427E8B6719}" type="datetime1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9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2066D-8ACF-7E46-9868-E347E36C892D}" type="datetime1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327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445940F-FD46-694C-A16D-7E02C0AF7BA9}" type="datetime1">
              <a:rPr lang="en-US" smtClean="0"/>
              <a:t>7/30/26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4E7DA1D-AD97-FD45-BF1D-CAB465F5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359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8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6D98D-B7D8-8724-595A-ECD590DA9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9114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 New Catalogue of Europium Abundances for GALAH DR4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3A060-49F4-B0F0-3EF4-31A75CFEC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70818"/>
            <a:ext cx="9144000" cy="1999976"/>
          </a:xfrm>
        </p:spPr>
        <p:txBody>
          <a:bodyPr>
            <a:normAutofit/>
          </a:bodyPr>
          <a:lstStyle/>
          <a:p>
            <a:r>
              <a:rPr lang="en-US" dirty="0"/>
              <a:t>Sarah Kane</a:t>
            </a:r>
          </a:p>
          <a:p>
            <a:endParaRPr lang="en-US" sz="1000" dirty="0"/>
          </a:p>
          <a:p>
            <a:r>
              <a:rPr lang="en-US" dirty="0"/>
              <a:t>In collaboration with Zofia Kaczmarek, Andrew Garner, Sven Buder, Stephanie Monty, Vasily </a:t>
            </a:r>
            <a:r>
              <a:rPr lang="en-US" dirty="0" err="1"/>
              <a:t>Belokurov</a:t>
            </a:r>
            <a:r>
              <a:rPr lang="en-US" dirty="0"/>
              <a:t>, and Hanyuan Zhang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5350057-22F1-B4D8-0400-9C9106DBF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186" y="5789113"/>
            <a:ext cx="1068887" cy="1068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and white text&#10;&#10;Description automatically generated">
            <a:extLst>
              <a:ext uri="{FF2B5EF4-FFF2-40B4-BE49-F238E27FC236}">
                <a16:creationId xmlns:a16="http://schemas.microsoft.com/office/drawing/2014/main" id="{57A9FF72-F7EC-5190-E9B9-B83A88CA5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6" y="5986340"/>
            <a:ext cx="3677432" cy="736790"/>
          </a:xfrm>
          <a:prstGeom prst="rect">
            <a:avLst/>
          </a:prstGeom>
        </p:spPr>
      </p:pic>
      <p:pic>
        <p:nvPicPr>
          <p:cNvPr id="6" name="Picture 2" descr="Marshall Scholarships Logo PNG Vector (EPS, PDF, SVG) Free Download">
            <a:extLst>
              <a:ext uri="{FF2B5EF4-FFF2-40B4-BE49-F238E27FC236}">
                <a16:creationId xmlns:a16="http://schemas.microsoft.com/office/drawing/2014/main" id="{7469C53F-C1F1-00B9-A89F-A645F9B664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127" b="50048"/>
          <a:stretch/>
        </p:blipFill>
        <p:spPr bwMode="auto">
          <a:xfrm>
            <a:off x="9745138" y="6055144"/>
            <a:ext cx="1069295" cy="705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9E162B-54E6-8EFB-794A-EC8756FD24F9}"/>
              </a:ext>
            </a:extLst>
          </p:cNvPr>
          <p:cNvSpPr txBox="1"/>
          <p:nvPr/>
        </p:nvSpPr>
        <p:spPr>
          <a:xfrm>
            <a:off x="10762063" y="6046519"/>
            <a:ext cx="1407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Marshall Scholarships</a:t>
            </a:r>
          </a:p>
        </p:txBody>
      </p:sp>
      <p:pic>
        <p:nvPicPr>
          <p:cNvPr id="8194" name="Picture 2" descr="QR Code Image">
            <a:extLst>
              <a:ext uri="{FF2B5EF4-FFF2-40B4-BE49-F238E27FC236}">
                <a16:creationId xmlns:a16="http://schemas.microsoft.com/office/drawing/2014/main" id="{488AB32B-1330-0B57-CA4D-B1B4E9C5D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8694" y="78343"/>
            <a:ext cx="1625599" cy="1625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9190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02B06-2E2D-DD3C-3FFC-D42882BB7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era of large spectroscopic surveys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3ABF8-FCA0-A7C9-D2F6-641185253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z="1400" smtClean="0"/>
              <a:t>2</a:t>
            </a:fld>
            <a:endParaRPr lang="en-US" sz="1400"/>
          </a:p>
        </p:txBody>
      </p:sp>
      <p:pic>
        <p:nvPicPr>
          <p:cNvPr id="2050" name="Picture 2" descr="GALAH Survey">
            <a:extLst>
              <a:ext uri="{FF2B5EF4-FFF2-40B4-BE49-F238E27FC236}">
                <a16:creationId xmlns:a16="http://schemas.microsoft.com/office/drawing/2014/main" id="{B3FBBA30-0FFC-E722-A717-84BD0AD5D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4208" y="4540853"/>
            <a:ext cx="5292570" cy="1525060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</p:pic>
      <p:pic>
        <p:nvPicPr>
          <p:cNvPr id="2052" name="Picture 4" descr="The APOGEE Survey">
            <a:extLst>
              <a:ext uri="{FF2B5EF4-FFF2-40B4-BE49-F238E27FC236}">
                <a16:creationId xmlns:a16="http://schemas.microsoft.com/office/drawing/2014/main" id="{9DEEB01D-CB0D-D6A8-4071-5EAF965DF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496" y="1781288"/>
            <a:ext cx="4587766" cy="2345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OSMOS Gaia mission logo - current version Gaia mission logo - version pre  2020 - Gaia mission logo - Gaia - Cosmos">
            <a:extLst>
              <a:ext uri="{FF2B5EF4-FFF2-40B4-BE49-F238E27FC236}">
                <a16:creationId xmlns:a16="http://schemas.microsoft.com/office/drawing/2014/main" id="{F35F0B5C-78D6-CDDD-71C8-0C5EBB4EA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441" y="1481734"/>
            <a:ext cx="3051505" cy="172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WHT Enhanced Area Velocity Explorer">
            <a:extLst>
              <a:ext uri="{FF2B5EF4-FFF2-40B4-BE49-F238E27FC236}">
                <a16:creationId xmlns:a16="http://schemas.microsoft.com/office/drawing/2014/main" id="{BE53393A-5CE4-7276-D22E-FE5182C53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6610" y="1986867"/>
            <a:ext cx="25400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4MOST logo">
            <a:extLst>
              <a:ext uri="{FF2B5EF4-FFF2-40B4-BE49-F238E27FC236}">
                <a16:creationId xmlns:a16="http://schemas.microsoft.com/office/drawing/2014/main" id="{67751162-904B-4475-7E68-05547FBE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6946" y="3202783"/>
            <a:ext cx="2358696" cy="2767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he Gaia-ESO Survey">
            <a:extLst>
              <a:ext uri="{FF2B5EF4-FFF2-40B4-BE49-F238E27FC236}">
                <a16:creationId xmlns:a16="http://schemas.microsoft.com/office/drawing/2014/main" id="{AA0B2DE0-0309-1EEA-646C-87CBE8431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65" y="4253134"/>
            <a:ext cx="2995721" cy="2468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813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95C0-8066-37DA-2040-E7DD3D16C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approaches for stellar spectroscopy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962C8-0D0C-8486-6DBE-52233ADF6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“Traditional”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3B4FAE-AD82-0E15-3382-24B26A966F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Data Driven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B60D1-578A-466E-7F14-3E1FF003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97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A4E57-00CF-7B19-A629-B326C06F5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7180-B017-9609-3846-CD267B97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approaches for stellar spectroscopy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09637-F13D-A790-EF25-59F15193D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“Traditional”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C222E-C01E-71BF-1BCB-CC44BE419C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Uses model </a:t>
            </a:r>
            <a:r>
              <a:rPr lang="en-US" u="sng" dirty="0"/>
              <a:t>stellar atmospheres</a:t>
            </a:r>
            <a:r>
              <a:rPr lang="en-US" dirty="0"/>
              <a:t> and </a:t>
            </a:r>
            <a:r>
              <a:rPr lang="en-US" u="sng" dirty="0"/>
              <a:t>radiative transfer calculations</a:t>
            </a:r>
            <a:r>
              <a:rPr lang="en-US" dirty="0"/>
              <a:t> to determine abundances from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observed absorption features</a:t>
            </a:r>
          </a:p>
          <a:p>
            <a:pPr lvl="1"/>
            <a:r>
              <a:rPr lang="en-US" dirty="0"/>
              <a:t>Either via synthesis of the feature or measurements of equivalent widths</a:t>
            </a:r>
          </a:p>
          <a:p>
            <a:r>
              <a:rPr lang="en-US" dirty="0"/>
              <a:t>Different tools give </a:t>
            </a:r>
            <a:r>
              <a:rPr lang="en-US" u="sng" dirty="0"/>
              <a:t>different results</a:t>
            </a:r>
            <a:r>
              <a:rPr lang="en-US" dirty="0"/>
              <a:t>!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2F747-DBD7-FF59-8C03-456B8BD6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73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96033-59E8-27C9-9B7C-F12B2CFB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09B4B-926A-9A32-4D22-D5E5405C9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approaches for stellar spectroscopy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C62C2-59C5-4FFE-31EE-3B5097253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“Traditional”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79317-F692-80CB-9D66-4D5C17DD96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Uses model </a:t>
            </a:r>
            <a:r>
              <a:rPr lang="en-US" u="sng" dirty="0"/>
              <a:t>stellar atmospheres</a:t>
            </a:r>
            <a:r>
              <a:rPr lang="en-US" dirty="0"/>
              <a:t> and </a:t>
            </a:r>
            <a:r>
              <a:rPr lang="en-US" u="sng" dirty="0"/>
              <a:t>radiative transfer calculations</a:t>
            </a:r>
            <a:r>
              <a:rPr lang="en-US" dirty="0"/>
              <a:t> to determine abundances from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observed absorption features</a:t>
            </a:r>
          </a:p>
          <a:p>
            <a:pPr lvl="1"/>
            <a:r>
              <a:rPr lang="en-US" dirty="0"/>
              <a:t>Either via synthesis of the feature or measurements of equivalent widths</a:t>
            </a:r>
          </a:p>
          <a:p>
            <a:r>
              <a:rPr lang="en-US" dirty="0"/>
              <a:t>Different tools give </a:t>
            </a:r>
            <a:r>
              <a:rPr lang="en-US" u="sng" dirty="0"/>
              <a:t>different results</a:t>
            </a:r>
            <a:r>
              <a:rPr lang="en-US" dirty="0"/>
              <a:t>!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47279-DEDD-2967-8B8D-DDAB24CF4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446BC1-EFC1-458A-DA97-1C11A185A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634" y="1525940"/>
            <a:ext cx="4841044" cy="484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377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8F610-BBC0-20A8-810D-38FCAD9AD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87C80-EC17-71AB-4DF9-FD0BB6959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approaches for stellar spectroscopy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A7B7B-2725-2C12-9C98-F166D0A14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“Traditional”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43E92F-C926-22E4-8423-63C0CCA5AE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Data Driven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E3BA60-0AE1-40CA-80AF-6BE403E10E3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Takes “reference stars” with trusted labels (see Ness 2018) and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fits a model to predict these labels for new spectra</a:t>
            </a:r>
          </a:p>
          <a:p>
            <a:pPr lvl="1"/>
            <a:r>
              <a:rPr lang="en-US" dirty="0"/>
              <a:t>Examples include: the Cannon, the Payne, </a:t>
            </a:r>
            <a:r>
              <a:rPr lang="en-US" dirty="0" err="1"/>
              <a:t>astroNN</a:t>
            </a:r>
            <a:endParaRPr lang="en-US" dirty="0"/>
          </a:p>
          <a:p>
            <a:r>
              <a:rPr lang="en-US" dirty="0"/>
              <a:t>Does </a:t>
            </a:r>
            <a:r>
              <a:rPr lang="en-US" i="1" dirty="0"/>
              <a:t>not</a:t>
            </a:r>
            <a:r>
              <a:rPr lang="en-US" dirty="0"/>
              <a:t> replace ”traditional” approaches!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B8946-4975-897A-AEB4-3EC729165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6</a:t>
            </a:fld>
            <a:endParaRPr lang="en-US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E0B4A35-7622-229C-42C3-1D146ECC2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Uses model </a:t>
            </a:r>
            <a:r>
              <a:rPr lang="en-US" u="sng" dirty="0"/>
              <a:t>stellar atmospheres</a:t>
            </a:r>
            <a:r>
              <a:rPr lang="en-US" dirty="0"/>
              <a:t> and </a:t>
            </a:r>
            <a:r>
              <a:rPr lang="en-US" u="sng" dirty="0"/>
              <a:t>radiative transfer calculations</a:t>
            </a:r>
            <a:r>
              <a:rPr lang="en-US" dirty="0"/>
              <a:t> to determine abundances from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observed absorption features</a:t>
            </a:r>
          </a:p>
          <a:p>
            <a:pPr lvl="1"/>
            <a:r>
              <a:rPr lang="en-US" dirty="0"/>
              <a:t>Either via synthesis of the feature or measurements of equivalent widths</a:t>
            </a:r>
          </a:p>
          <a:p>
            <a:r>
              <a:rPr lang="en-US" dirty="0"/>
              <a:t>Different tools give </a:t>
            </a:r>
            <a:r>
              <a:rPr lang="en-US" u="sng" dirty="0"/>
              <a:t>different results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57253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9AFE3E-B04F-D693-BB73-638851F7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 descr="A group of people standing in a room&#10;&#10;AI-generated content may be incorrect.">
            <a:extLst>
              <a:ext uri="{FF2B5EF4-FFF2-40B4-BE49-F238E27FC236}">
                <a16:creationId xmlns:a16="http://schemas.microsoft.com/office/drawing/2014/main" id="{AB67016F-EDDB-5230-9778-3D0D655DF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262" y="152446"/>
            <a:ext cx="8357476" cy="6268107"/>
          </a:xfrm>
          <a:prstGeom prst="rect">
            <a:avLst/>
          </a:prstGeom>
        </p:spPr>
      </p:pic>
      <p:pic>
        <p:nvPicPr>
          <p:cNvPr id="7" name="Picture 6" descr="A close up of a text&#10;&#10;AI-generated content may be incorrect.">
            <a:extLst>
              <a:ext uri="{FF2B5EF4-FFF2-40B4-BE49-F238E27FC236}">
                <a16:creationId xmlns:a16="http://schemas.microsoft.com/office/drawing/2014/main" id="{F72B41EB-F448-A6D1-CBED-0151578E4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7261" y="152446"/>
            <a:ext cx="8364773" cy="202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607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53CA60-FE43-6781-9718-58A64863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9ABED3-EAF4-C099-0BDD-4DE5AEE28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66" y="68262"/>
            <a:ext cx="11743268" cy="672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19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E83E-7078-DACA-40E1-79D6F6F60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europium</a:t>
            </a:r>
            <a:r>
              <a:rPr lang="en-US" dirty="0"/>
              <a:t> need its own catalogue?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EF3A1-77F1-7D0D-9CBF-F5255838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39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6156B99-03C0-A011-AB21-2962251A8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3975"/>
            <a:ext cx="12192000" cy="608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31747A-80C9-C70C-FE1C-5446C3E58C13}"/>
              </a:ext>
            </a:extLst>
          </p:cNvPr>
          <p:cNvSpPr txBox="1"/>
          <p:nvPr/>
        </p:nvSpPr>
        <p:spPr>
          <a:xfrm>
            <a:off x="10197928" y="6415633"/>
            <a:ext cx="1875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Kobayashi+ 2020</a:t>
            </a:r>
          </a:p>
        </p:txBody>
      </p:sp>
    </p:spTree>
    <p:extLst>
      <p:ext uri="{BB962C8B-B14F-4D97-AF65-F5344CB8AC3E}">
        <p14:creationId xmlns:p14="http://schemas.microsoft.com/office/powerpoint/2010/main" val="2175588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C937D-A867-6256-3262-2BC85D341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E894FD8-66D8-8120-B363-96334E284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3975"/>
            <a:ext cx="12192000" cy="608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8AE5FF1-DE9D-18A2-3C69-4751ABB50CAD}"/>
              </a:ext>
            </a:extLst>
          </p:cNvPr>
          <p:cNvSpPr/>
          <p:nvPr/>
        </p:nvSpPr>
        <p:spPr>
          <a:xfrm>
            <a:off x="1916482" y="173975"/>
            <a:ext cx="6288066" cy="18802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FA9C23-FFF4-19CC-5EAB-F30FDD8C1D6C}"/>
              </a:ext>
            </a:extLst>
          </p:cNvPr>
          <p:cNvSpPr txBox="1"/>
          <p:nvPr/>
        </p:nvSpPr>
        <p:spPr>
          <a:xfrm>
            <a:off x="10197928" y="6415633"/>
            <a:ext cx="1875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Kobayashi+ 2020</a:t>
            </a:r>
          </a:p>
        </p:txBody>
      </p:sp>
    </p:spTree>
    <p:extLst>
      <p:ext uri="{BB962C8B-B14F-4D97-AF65-F5344CB8AC3E}">
        <p14:creationId xmlns:p14="http://schemas.microsoft.com/office/powerpoint/2010/main" val="2693187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285D4-6BFD-782F-9AC0-10E194DD0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0B0B017-9B5F-239E-D820-129B6654C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3975"/>
            <a:ext cx="12192000" cy="608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8AA705-D2D2-B7F4-76B9-8695B46903CD}"/>
              </a:ext>
            </a:extLst>
          </p:cNvPr>
          <p:cNvSpPr/>
          <p:nvPr/>
        </p:nvSpPr>
        <p:spPr>
          <a:xfrm>
            <a:off x="8816454" y="113019"/>
            <a:ext cx="3342290" cy="2968618"/>
          </a:xfrm>
          <a:prstGeom prst="rect">
            <a:avLst/>
          </a:prstGeom>
          <a:solidFill>
            <a:schemeClr val="tx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FEC70CD-0346-F2E4-DD92-3F77D095CF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24" t="72911" r="47672" b="16043"/>
          <a:stretch>
            <a:fillRect/>
          </a:stretch>
        </p:blipFill>
        <p:spPr bwMode="auto">
          <a:xfrm>
            <a:off x="9228082" y="315311"/>
            <a:ext cx="2540055" cy="250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FACDC57-7E69-B746-7735-34CD82129E5A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6096000" y="1597328"/>
            <a:ext cx="2720454" cy="3048244"/>
          </a:xfrm>
          <a:prstGeom prst="straightConnector1">
            <a:avLst/>
          </a:prstGeom>
          <a:ln w="1143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05D43C0-30DA-02E1-96BB-31FE7F8454DD}"/>
              </a:ext>
            </a:extLst>
          </p:cNvPr>
          <p:cNvSpPr txBox="1"/>
          <p:nvPr/>
        </p:nvSpPr>
        <p:spPr>
          <a:xfrm>
            <a:off x="10197928" y="6415633"/>
            <a:ext cx="1875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Kobayashi+ 2020</a:t>
            </a:r>
          </a:p>
        </p:txBody>
      </p:sp>
    </p:spTree>
    <p:extLst>
      <p:ext uri="{BB962C8B-B14F-4D97-AF65-F5344CB8AC3E}">
        <p14:creationId xmlns:p14="http://schemas.microsoft.com/office/powerpoint/2010/main" val="3498388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86EAB-ABCD-4887-E6E7-561A8B51D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Europium</a:t>
            </a:r>
            <a:r>
              <a:rPr lang="en-US" dirty="0"/>
              <a:t> and the </a:t>
            </a:r>
            <a:r>
              <a:rPr lang="en-US" b="1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r</a:t>
            </a: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-process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C6B2E-1C0B-00FA-5AFA-A1BBA4C81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212" y="1592153"/>
            <a:ext cx="10515600" cy="490072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Rapid neutron capture (r-process)</a:t>
            </a:r>
            <a:r>
              <a:rPr lang="en-US" dirty="0"/>
              <a:t> creates ~half the heavy elements in the Universe </a:t>
            </a:r>
            <a:r>
              <a:rPr lang="en-US" sz="2000" dirty="0"/>
              <a:t>(see e.g., Cowan+ 2021)</a:t>
            </a:r>
          </a:p>
          <a:p>
            <a:pPr lvl="1"/>
            <a:r>
              <a:rPr lang="en-US" sz="2800" dirty="0"/>
              <a:t>Th, U, Eu…</a:t>
            </a:r>
          </a:p>
          <a:p>
            <a:r>
              <a:rPr lang="en-US" dirty="0"/>
              <a:t>Occurs in </a:t>
            </a:r>
            <a:r>
              <a:rPr lang="en-US" u="sng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neutron star mergers</a:t>
            </a:r>
            <a:r>
              <a:rPr lang="en-US" dirty="0"/>
              <a:t>, </a:t>
            </a:r>
            <a:r>
              <a:rPr lang="en-US" sz="2000" dirty="0"/>
              <a:t>(Abbott+ 2017; Smartt+ 2017; Drout+ 2017), </a:t>
            </a:r>
            <a:r>
              <a:rPr lang="en-US" dirty="0"/>
              <a:t>maybe also rare </a:t>
            </a:r>
            <a:r>
              <a:rPr lang="en-US" u="sng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core-collapse SNe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000" dirty="0"/>
              <a:t>(e.g., Côté+ 2019, Kobayashi+ 2020)</a:t>
            </a:r>
          </a:p>
          <a:p>
            <a:r>
              <a:rPr lang="en-US" dirty="0"/>
              <a:t>Many r-process elements are difficult to measure.</a:t>
            </a:r>
          </a:p>
          <a:p>
            <a:pPr lvl="1"/>
            <a:r>
              <a:rPr lang="en-US" sz="2800" u="sng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Eu is the most feasible</a:t>
            </a:r>
            <a:r>
              <a:rPr lang="en-US" sz="28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800" dirty="0"/>
              <a:t>because it has a line in the optical (@ 6645 </a:t>
            </a:r>
            <a:r>
              <a:rPr lang="en-US" sz="2800" dirty="0" err="1"/>
              <a:t>Å</a:t>
            </a:r>
            <a:r>
              <a:rPr lang="en-US" sz="2800" dirty="0"/>
              <a:t>).</a:t>
            </a:r>
          </a:p>
          <a:p>
            <a:pPr lvl="1"/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B9FBC-946F-77DE-064D-6750A863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47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A97EB96-E14B-8CA8-8D69-DE15B5318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833" y="1617382"/>
            <a:ext cx="5635324" cy="4442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2B518C-E6BB-0914-C485-A2926C251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GALAH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9F8E3-FAF1-BD3A-10AE-76D189AB5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395584" cy="45307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Large, Australian-based stellar spectroscopic survey</a:t>
            </a:r>
          </a:p>
          <a:p>
            <a:r>
              <a:rPr lang="en-US" dirty="0"/>
              <a:t>Unlike many other surveys (e.g., APOGEE), GALAH has the wavelength range and resolution (R~28,000) to capture the </a:t>
            </a:r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Eu feature at ~6645 </a:t>
            </a:r>
            <a:r>
              <a:rPr lang="en-US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Å</a:t>
            </a:r>
            <a:endParaRPr lang="en-US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r>
              <a:rPr lang="en-US" dirty="0"/>
              <a:t>Recent DR4 switched from a “traditional” approach to neural network-based abundances trained on synthetic spectra</a:t>
            </a:r>
          </a:p>
          <a:p>
            <a:endParaRPr lang="en-US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FB292-2783-DB27-B383-045F13E59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14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C19F8F-88D9-42B6-D9F3-135CDDB153AF}"/>
              </a:ext>
            </a:extLst>
          </p:cNvPr>
          <p:cNvSpPr txBox="1"/>
          <p:nvPr/>
        </p:nvSpPr>
        <p:spPr>
          <a:xfrm>
            <a:off x="9412589" y="2848362"/>
            <a:ext cx="528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Eu</a:t>
            </a:r>
          </a:p>
        </p:txBody>
      </p:sp>
    </p:spTree>
    <p:extLst>
      <p:ext uri="{BB962C8B-B14F-4D97-AF65-F5344CB8AC3E}">
        <p14:creationId xmlns:p14="http://schemas.microsoft.com/office/powerpoint/2010/main" val="3861603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7D2DC-23B8-5781-287B-B3ED9831A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0F3F-6552-A87A-6229-E26BB0021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GALAH Survey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BF322-A1FF-D62E-7333-B81B66A7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15</a:t>
            </a:fld>
            <a:endParaRPr lang="en-US"/>
          </a:p>
        </p:txBody>
      </p:sp>
      <p:pic>
        <p:nvPicPr>
          <p:cNvPr id="1026" name="Picture 2" descr="Location on the sky of all the fields observed as part of the GALAH Survey.">
            <a:extLst>
              <a:ext uri="{FF2B5EF4-FFF2-40B4-BE49-F238E27FC236}">
                <a16:creationId xmlns:a16="http://schemas.microsoft.com/office/drawing/2014/main" id="{9548E530-E155-976F-7A2E-BB5368A680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1" r="15631"/>
          <a:stretch>
            <a:fillRect/>
          </a:stretch>
        </p:blipFill>
        <p:spPr bwMode="auto">
          <a:xfrm>
            <a:off x="4557686" y="1825625"/>
            <a:ext cx="7531395" cy="430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21EDD2-BD02-657E-57CF-94A3B827E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99884" cy="4530725"/>
          </a:xfrm>
        </p:spPr>
        <p:txBody>
          <a:bodyPr>
            <a:normAutofit/>
          </a:bodyPr>
          <a:lstStyle/>
          <a:p>
            <a:r>
              <a:rPr lang="en-US" dirty="0"/>
              <a:t>GALAH DR4 has </a:t>
            </a: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917,588 stars </a:t>
            </a:r>
            <a:r>
              <a:rPr lang="en-US" dirty="0"/>
              <a:t>(Buder+ 2025)</a:t>
            </a:r>
          </a:p>
          <a:p>
            <a:pPr lvl="1"/>
            <a:r>
              <a:rPr lang="en-US" sz="2800" dirty="0"/>
              <a:t>As compared to 588,571 stars in GALAH DR3 (Buder+ 2021)</a:t>
            </a:r>
          </a:p>
          <a:p>
            <a:pPr lvl="1"/>
            <a:r>
              <a:rPr lang="en-US" sz="2800" dirty="0"/>
              <a:t>Including much </a:t>
            </a:r>
            <a:r>
              <a:rPr lang="en-US" sz="2800" b="1" dirty="0">
                <a:solidFill>
                  <a:srgbClr val="FFA269"/>
                </a:solidFill>
              </a:rPr>
              <a:t>more disk coverage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BE89D15-4FA5-0C8C-C68C-D98B37699300}"/>
              </a:ext>
            </a:extLst>
          </p:cNvPr>
          <p:cNvCxnSpPr>
            <a:cxnSpLocks/>
          </p:cNvCxnSpPr>
          <p:nvPr/>
        </p:nvCxnSpPr>
        <p:spPr>
          <a:xfrm flipV="1">
            <a:off x="3551274" y="4125433"/>
            <a:ext cx="3976577" cy="135033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EB87D10-D03F-D4EF-EFC9-66FA456387C4}"/>
              </a:ext>
            </a:extLst>
          </p:cNvPr>
          <p:cNvSpPr txBox="1"/>
          <p:nvPr/>
        </p:nvSpPr>
        <p:spPr>
          <a:xfrm>
            <a:off x="9361994" y="1432050"/>
            <a:ext cx="2711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GALAH Collaboration</a:t>
            </a:r>
          </a:p>
        </p:txBody>
      </p:sp>
    </p:spTree>
    <p:extLst>
      <p:ext uri="{BB962C8B-B14F-4D97-AF65-F5344CB8AC3E}">
        <p14:creationId xmlns:p14="http://schemas.microsoft.com/office/powerpoint/2010/main" val="199006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96802-AEBF-B8D6-7807-47C77CF8B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404BC-C144-528A-CF84-40FDCF4D0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europium abundances for GALAH DR4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2CCCA-6665-A579-D29F-CC8EC072B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0186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baseline: </a:t>
            </a:r>
            <a:r>
              <a:rPr lang="en-US" dirty="0"/>
              <a:t>GALAH DR3 had Eu measurements that were broadly community-tested and trusted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The problem: </a:t>
            </a:r>
            <a:r>
              <a:rPr lang="en-US" dirty="0">
                <a:solidFill>
                  <a:schemeClr val="bg1"/>
                </a:solidFill>
              </a:rPr>
              <a:t>GALAH DR4’s Eu abundances are broken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The solution: </a:t>
            </a:r>
            <a:r>
              <a:rPr lang="en-US" dirty="0">
                <a:solidFill>
                  <a:schemeClr val="bg1"/>
                </a:solidFill>
              </a:rPr>
              <a:t>Produce ”GALAH DR3 style” Eu abundances for DR4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609EF-4A9A-2D9F-D2C3-5F0F0D29E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51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0DDCE-9FEB-6256-719E-4372AA3B6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8F4D-E6DB-AC6D-7036-06FF7AF35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europium abundances for GALAH DR4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798AB-456E-C977-B325-9DC4B7659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0186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baseline: </a:t>
            </a:r>
            <a:r>
              <a:rPr lang="en-US" dirty="0"/>
              <a:t>GALAH DR3 had Eu measurements that were broadly community-tested and trusted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problem: </a:t>
            </a:r>
            <a:r>
              <a:rPr lang="en-US" dirty="0"/>
              <a:t>GALAH DR4’s Eu abundances are broken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The solution: </a:t>
            </a:r>
            <a:r>
              <a:rPr lang="en-US" dirty="0">
                <a:solidFill>
                  <a:schemeClr val="bg1"/>
                </a:solidFill>
              </a:rPr>
              <a:t>Produce ”GALAH DR3 style” Eu abundances for DR4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1FDCD-8FAD-4B35-7E14-DC61DF36F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F409C465-690D-5919-193E-ED12F13E7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960" y="1460255"/>
            <a:ext cx="6113114" cy="482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59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18EDD-D887-EDBD-7A38-320EBD7B5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europium abundances for GALAH DR4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60693-4260-2E58-22E9-483DA9FEE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0186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baseline: </a:t>
            </a:r>
            <a:r>
              <a:rPr lang="en-US" dirty="0"/>
              <a:t>GALAH DR3 had Eu measurements that were broadly community-tested and trusted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problem: </a:t>
            </a:r>
            <a:r>
              <a:rPr lang="en-US" dirty="0"/>
              <a:t>GALAH DR4’s Eu abundances are broken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The solution: </a:t>
            </a:r>
            <a:r>
              <a:rPr lang="en-US" dirty="0"/>
              <a:t>Produce ”GALAH DR3 style” Eu abundances for DR4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DF111-00CF-6E4F-C3F4-F1A7D5BE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105B5BC5-F52A-6BC9-29F3-1863616B9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960" y="1460255"/>
            <a:ext cx="6113114" cy="482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377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64659-6ED1-D581-DCDC-59BE3B465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25" y="365125"/>
            <a:ext cx="10515600" cy="1325563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label transfer </a:t>
            </a:r>
            <a:r>
              <a:rPr lang="en-US" dirty="0"/>
              <a:t>exercise: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75E61-9720-DCD3-4016-DA590E8A8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325" y="1448790"/>
            <a:ext cx="10799618" cy="9737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We want to take GALAH DR4 spectra and predict “DR3 style” [Eu/H] values</a:t>
            </a:r>
          </a:p>
          <a:p>
            <a:pPr marL="0" indent="0">
              <a:buNone/>
            </a:pPr>
            <a:r>
              <a:rPr lang="en-US" sz="2600" dirty="0"/>
              <a:t>An excellent use case for a </a:t>
            </a:r>
            <a:r>
              <a:rPr lang="en-US" sz="26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neural network</a:t>
            </a:r>
            <a:r>
              <a:rPr lang="en-US" sz="2600" dirty="0"/>
              <a:t>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53D55-B691-A48C-AB5D-3F368A2C5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76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E17BD-A113-832D-5C5D-72C9E4910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BC2CC-8AD0-1482-958E-BFB43BF65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325" y="1448790"/>
            <a:ext cx="10799618" cy="712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We want to take GALAH DR4 spectra and predict “DR3 style” [Eu/H] 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C27DC-7729-FBAD-D72C-090ED193C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20</a:t>
            </a:fld>
            <a:endParaRPr lang="en-US"/>
          </a:p>
        </p:txBody>
      </p:sp>
      <p:pic>
        <p:nvPicPr>
          <p:cNvPr id="11" name="Picture 10" descr="A graph of a waveform&#10;&#10;AI-generated content may be incorrect.">
            <a:extLst>
              <a:ext uri="{FF2B5EF4-FFF2-40B4-BE49-F238E27FC236}">
                <a16:creationId xmlns:a16="http://schemas.microsoft.com/office/drawing/2014/main" id="{5D380740-9E80-D0CB-BF6E-742F398F7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347" y="1954121"/>
            <a:ext cx="6304582" cy="4767354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C2AFF023-F91A-42FC-7265-6AE76FC00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25" y="365125"/>
            <a:ext cx="10515600" cy="1325563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label transfer </a:t>
            </a:r>
            <a:r>
              <a:rPr lang="en-US" dirty="0"/>
              <a:t>exercise: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07349A-6473-A504-43A8-6D980714D10D}"/>
              </a:ext>
            </a:extLst>
          </p:cNvPr>
          <p:cNvSpPr txBox="1"/>
          <p:nvPr/>
        </p:nvSpPr>
        <p:spPr>
          <a:xfrm>
            <a:off x="236784" y="2640154"/>
            <a:ext cx="4717061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10 </a:t>
            </a:r>
            <a:r>
              <a:rPr lang="en-US" sz="2400" dirty="0" err="1">
                <a:solidFill>
                  <a:schemeClr val="bg1"/>
                </a:solidFill>
              </a:rPr>
              <a:t>Å</a:t>
            </a:r>
            <a:r>
              <a:rPr lang="en-US" sz="2400" dirty="0">
                <a:solidFill>
                  <a:schemeClr val="bg1"/>
                </a:solidFill>
              </a:rPr>
              <a:t> section of a GALAH spectrum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(centered on Eu feature)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CC16D-59EE-0F53-5E89-251F87B2C213}"/>
              </a:ext>
            </a:extLst>
          </p:cNvPr>
          <p:cNvSpPr txBox="1"/>
          <p:nvPr/>
        </p:nvSpPr>
        <p:spPr>
          <a:xfrm>
            <a:off x="472071" y="4270042"/>
            <a:ext cx="4246484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GALAH DR4 stellar parameters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(T</a:t>
            </a:r>
            <a:r>
              <a:rPr lang="en-US" sz="2400" baseline="-25000" dirty="0">
                <a:solidFill>
                  <a:schemeClr val="bg1"/>
                </a:solidFill>
              </a:rPr>
              <a:t>eff</a:t>
            </a:r>
            <a:r>
              <a:rPr lang="en-US" sz="2400" dirty="0">
                <a:solidFill>
                  <a:schemeClr val="bg1"/>
                </a:solidFill>
              </a:rPr>
              <a:t>, log(g), [Fe/H], [Ni/Fe])</a:t>
            </a:r>
          </a:p>
        </p:txBody>
      </p:sp>
    </p:spTree>
    <p:extLst>
      <p:ext uri="{BB962C8B-B14F-4D97-AF65-F5344CB8AC3E}">
        <p14:creationId xmlns:p14="http://schemas.microsoft.com/office/powerpoint/2010/main" val="227264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09F4A-CCBE-8D2E-3E68-585054234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74CD1-72AA-50F7-EC2E-C35F80B32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325" y="1448790"/>
            <a:ext cx="10799618" cy="712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We want to take GALAH DR4 spectra and predict “DR3 style” [Eu/H] 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11616-0F1E-84CD-E6BC-198A665B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471431-5388-3389-F690-7B00CF70F909}"/>
              </a:ext>
            </a:extLst>
          </p:cNvPr>
          <p:cNvSpPr txBox="1"/>
          <p:nvPr/>
        </p:nvSpPr>
        <p:spPr>
          <a:xfrm>
            <a:off x="236784" y="2640154"/>
            <a:ext cx="4717061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10 </a:t>
            </a:r>
            <a:r>
              <a:rPr lang="en-US" sz="2400" dirty="0" err="1">
                <a:solidFill>
                  <a:schemeClr val="bg1"/>
                </a:solidFill>
              </a:rPr>
              <a:t>Å</a:t>
            </a:r>
            <a:r>
              <a:rPr lang="en-US" sz="2400" dirty="0">
                <a:solidFill>
                  <a:schemeClr val="bg1"/>
                </a:solidFill>
              </a:rPr>
              <a:t> section of a GALAH spectrum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(centered on Eu feature)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68A603-266C-E060-5F6F-5C0D0D830789}"/>
              </a:ext>
            </a:extLst>
          </p:cNvPr>
          <p:cNvSpPr txBox="1"/>
          <p:nvPr/>
        </p:nvSpPr>
        <p:spPr>
          <a:xfrm>
            <a:off x="472071" y="4270042"/>
            <a:ext cx="4246484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GALAH DR4 stellar parameters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(T</a:t>
            </a:r>
            <a:r>
              <a:rPr lang="en-US" sz="2400" baseline="-25000" dirty="0">
                <a:solidFill>
                  <a:schemeClr val="bg1"/>
                </a:solidFill>
              </a:rPr>
              <a:t>eff</a:t>
            </a:r>
            <a:r>
              <a:rPr lang="en-US" sz="2400" dirty="0">
                <a:solidFill>
                  <a:schemeClr val="bg1"/>
                </a:solidFill>
              </a:rPr>
              <a:t>, log(g), [Fe/H], [Ni/Fe])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ECC0CF-DE3D-B59B-2B25-DCAF1219AA5A}"/>
              </a:ext>
            </a:extLst>
          </p:cNvPr>
          <p:cNvSpPr txBox="1"/>
          <p:nvPr/>
        </p:nvSpPr>
        <p:spPr>
          <a:xfrm>
            <a:off x="5609125" y="2855597"/>
            <a:ext cx="2024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1D Convolutions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B3897-A16A-3B2B-046C-ED0A0E1D1E5B}"/>
              </a:ext>
            </a:extLst>
          </p:cNvPr>
          <p:cNvSpPr txBox="1"/>
          <p:nvPr/>
        </p:nvSpPr>
        <p:spPr>
          <a:xfrm>
            <a:off x="5609125" y="4331597"/>
            <a:ext cx="19950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Fully Connected</a:t>
            </a:r>
          </a:p>
          <a:p>
            <a:pPr algn="ctr"/>
            <a:r>
              <a:rPr lang="en-US" sz="2000" dirty="0"/>
              <a:t>(Linear) Layers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61D731-B7FC-933B-9789-419395E2C068}"/>
              </a:ext>
            </a:extLst>
          </p:cNvPr>
          <p:cNvSpPr txBox="1"/>
          <p:nvPr/>
        </p:nvSpPr>
        <p:spPr>
          <a:xfrm>
            <a:off x="7873142" y="3588153"/>
            <a:ext cx="12025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Combine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9224C2-BEFE-AC29-3631-036C2BA406AE}"/>
                  </a:ext>
                </a:extLst>
              </p:cNvPr>
              <p:cNvSpPr txBox="1"/>
              <p:nvPr/>
            </p:nvSpPr>
            <p:spPr>
              <a:xfrm>
                <a:off x="9848120" y="3172466"/>
                <a:ext cx="2037609" cy="1200329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Output:</a:t>
                </a:r>
              </a:p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[Eu/H]</a:t>
                </a:r>
              </a:p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Inferred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400" baseline="-25000" dirty="0">
                    <a:solidFill>
                      <a:schemeClr val="bg1"/>
                    </a:solidFill>
                  </a:rPr>
                  <a:t>[Eu/H]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9224C2-BEFE-AC29-3631-036C2BA40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8120" y="3172466"/>
                <a:ext cx="2037609" cy="1200329"/>
              </a:xfrm>
              <a:prstGeom prst="rect">
                <a:avLst/>
              </a:prstGeom>
              <a:blipFill>
                <a:blip r:embed="rId2"/>
                <a:stretch>
                  <a:fillRect l="-4321" t="-4167" r="-617" b="-1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ECBE5A-DA95-E010-45F6-E02B803EA557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4953845" y="3055652"/>
            <a:ext cx="655280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955F184-031B-3A6C-823F-229AEC0F27E7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4718555" y="4685540"/>
            <a:ext cx="890570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6A88FAE-F5A5-AF9C-ADD7-BC136C517E56}"/>
              </a:ext>
            </a:extLst>
          </p:cNvPr>
          <p:cNvCxnSpPr>
            <a:stCxn id="7" idx="3"/>
            <a:endCxn id="9" idx="0"/>
          </p:cNvCxnSpPr>
          <p:nvPr/>
        </p:nvCxnSpPr>
        <p:spPr>
          <a:xfrm>
            <a:off x="7633462" y="3055652"/>
            <a:ext cx="840967" cy="5325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223AED-7CAD-D09B-56DD-415870989ECD}"/>
              </a:ext>
            </a:extLst>
          </p:cNvPr>
          <p:cNvCxnSpPr>
            <a:stCxn id="8" idx="3"/>
            <a:endCxn id="9" idx="2"/>
          </p:cNvCxnSpPr>
          <p:nvPr/>
        </p:nvCxnSpPr>
        <p:spPr>
          <a:xfrm flipV="1">
            <a:off x="7604222" y="3988263"/>
            <a:ext cx="870207" cy="69727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870C9A7-EFDB-86E0-7681-3DDEA6DFC439}"/>
              </a:ext>
            </a:extLst>
          </p:cNvPr>
          <p:cNvCxnSpPr>
            <a:stCxn id="9" idx="3"/>
          </p:cNvCxnSpPr>
          <p:nvPr/>
        </p:nvCxnSpPr>
        <p:spPr>
          <a:xfrm>
            <a:off x="9075715" y="3788208"/>
            <a:ext cx="77240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E0D4E949-C221-27E1-0DD6-1ED82765D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25" y="365125"/>
            <a:ext cx="10515600" cy="1325563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label transfer </a:t>
            </a:r>
            <a:r>
              <a:rPr lang="en-US" dirty="0"/>
              <a:t>exercise:</a:t>
            </a:r>
          </a:p>
        </p:txBody>
      </p:sp>
    </p:spTree>
    <p:extLst>
      <p:ext uri="{BB962C8B-B14F-4D97-AF65-F5344CB8AC3E}">
        <p14:creationId xmlns:p14="http://schemas.microsoft.com/office/powerpoint/2010/main" val="1663907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E0461-39C4-1F99-BB5A-D2FBE745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1356C-D632-69F0-6AA3-EC9CE4E19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325" y="1448790"/>
            <a:ext cx="10799618" cy="712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We want to take GALAH DR4 spectra and predict “DR3 style” [Eu/H] 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36EB5-DBD3-FDBD-7E84-3E975094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8BA451-28DD-F1CB-8994-DFCFAED0A2CD}"/>
              </a:ext>
            </a:extLst>
          </p:cNvPr>
          <p:cNvSpPr txBox="1"/>
          <p:nvPr/>
        </p:nvSpPr>
        <p:spPr>
          <a:xfrm>
            <a:off x="236784" y="2640154"/>
            <a:ext cx="4717061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10 </a:t>
            </a:r>
            <a:r>
              <a:rPr lang="en-US" sz="2400" dirty="0" err="1">
                <a:solidFill>
                  <a:schemeClr val="bg1"/>
                </a:solidFill>
              </a:rPr>
              <a:t>Å</a:t>
            </a:r>
            <a:r>
              <a:rPr lang="en-US" sz="2400" dirty="0">
                <a:solidFill>
                  <a:schemeClr val="bg1"/>
                </a:solidFill>
              </a:rPr>
              <a:t> section of a GALAH spectrum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(centered on Eu feature)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A6C26A-DCA5-CA4E-66FB-805ADDE574A3}"/>
              </a:ext>
            </a:extLst>
          </p:cNvPr>
          <p:cNvSpPr txBox="1"/>
          <p:nvPr/>
        </p:nvSpPr>
        <p:spPr>
          <a:xfrm>
            <a:off x="472071" y="4270042"/>
            <a:ext cx="4246484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GALAH DR4 stellar parameters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(T</a:t>
            </a:r>
            <a:r>
              <a:rPr lang="en-US" sz="2400" baseline="-25000" dirty="0">
                <a:solidFill>
                  <a:schemeClr val="bg1"/>
                </a:solidFill>
              </a:rPr>
              <a:t>eff</a:t>
            </a:r>
            <a:r>
              <a:rPr lang="en-US" sz="2400" dirty="0">
                <a:solidFill>
                  <a:schemeClr val="bg1"/>
                </a:solidFill>
              </a:rPr>
              <a:t>, log(g), [Fe/H], [Ni/Fe])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3EFD58-6A73-9B0D-5912-CA0AEE81CD73}"/>
              </a:ext>
            </a:extLst>
          </p:cNvPr>
          <p:cNvSpPr txBox="1"/>
          <p:nvPr/>
        </p:nvSpPr>
        <p:spPr>
          <a:xfrm>
            <a:off x="5609125" y="2855597"/>
            <a:ext cx="2024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1D Convolutions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783C80-CED7-0934-54EA-C15C1601C4DC}"/>
              </a:ext>
            </a:extLst>
          </p:cNvPr>
          <p:cNvSpPr txBox="1"/>
          <p:nvPr/>
        </p:nvSpPr>
        <p:spPr>
          <a:xfrm>
            <a:off x="5609125" y="4331597"/>
            <a:ext cx="19950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Fully Connected</a:t>
            </a:r>
          </a:p>
          <a:p>
            <a:pPr algn="ctr"/>
            <a:r>
              <a:rPr lang="en-US" sz="2000" dirty="0"/>
              <a:t>(Linear) Layers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392936-D057-41E6-A34F-655F5CEBE433}"/>
              </a:ext>
            </a:extLst>
          </p:cNvPr>
          <p:cNvSpPr txBox="1"/>
          <p:nvPr/>
        </p:nvSpPr>
        <p:spPr>
          <a:xfrm>
            <a:off x="7873142" y="3572575"/>
            <a:ext cx="12025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Combine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8A1C1F-CEE0-D25C-A0AA-16AE18EEE3AE}"/>
                  </a:ext>
                </a:extLst>
              </p:cNvPr>
              <p:cNvSpPr txBox="1"/>
              <p:nvPr/>
            </p:nvSpPr>
            <p:spPr>
              <a:xfrm>
                <a:off x="9786180" y="3172466"/>
                <a:ext cx="2161490" cy="1200329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Output:</a:t>
                </a:r>
              </a:p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[Eu/H]</a:t>
                </a:r>
              </a:p>
              <a:p>
                <a:pPr algn="ctr"/>
                <a:r>
                  <a:rPr lang="en-US" sz="2400" b="1" dirty="0">
                    <a:solidFill>
                      <a:schemeClr val="bg1"/>
                    </a:solidFill>
                  </a:rPr>
                  <a:t>Inferred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US" sz="2400" b="1" baseline="-25000" dirty="0">
                    <a:solidFill>
                      <a:schemeClr val="bg1"/>
                    </a:solidFill>
                  </a:rPr>
                  <a:t>[Eu/H]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8A1C1F-CEE0-D25C-A0AA-16AE18EEE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6180" y="3172466"/>
                <a:ext cx="2161490" cy="1200329"/>
              </a:xfrm>
              <a:prstGeom prst="rect">
                <a:avLst/>
              </a:prstGeom>
              <a:blipFill>
                <a:blip r:embed="rId3"/>
                <a:stretch>
                  <a:fillRect l="-4094" t="-4167" r="-1170" b="-1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59C7DE1-76BE-4AE8-7376-7BBC5DB3C549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4953845" y="3055652"/>
            <a:ext cx="655280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6DC7B6-C6FF-6966-DFC0-4B3CB5CBC84B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4718555" y="4685540"/>
            <a:ext cx="890570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0763947-C72F-1744-F15C-1189205C5109}"/>
              </a:ext>
            </a:extLst>
          </p:cNvPr>
          <p:cNvCxnSpPr>
            <a:stCxn id="7" idx="3"/>
            <a:endCxn id="9" idx="0"/>
          </p:cNvCxnSpPr>
          <p:nvPr/>
        </p:nvCxnSpPr>
        <p:spPr>
          <a:xfrm>
            <a:off x="7633462" y="3055652"/>
            <a:ext cx="840967" cy="51692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BB4359-746A-F4DA-4B21-5E2C7FD35595}"/>
              </a:ext>
            </a:extLst>
          </p:cNvPr>
          <p:cNvCxnSpPr>
            <a:stCxn id="8" idx="3"/>
            <a:endCxn id="9" idx="2"/>
          </p:cNvCxnSpPr>
          <p:nvPr/>
        </p:nvCxnSpPr>
        <p:spPr>
          <a:xfrm flipV="1">
            <a:off x="7604222" y="3972685"/>
            <a:ext cx="870207" cy="7128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DCC45E0-C859-57A5-649A-1A1808375F0F}"/>
              </a:ext>
            </a:extLst>
          </p:cNvPr>
          <p:cNvCxnSpPr>
            <a:stCxn id="9" idx="3"/>
          </p:cNvCxnSpPr>
          <p:nvPr/>
        </p:nvCxnSpPr>
        <p:spPr>
          <a:xfrm>
            <a:off x="9075715" y="3772630"/>
            <a:ext cx="77240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567EEA04-7656-1F4E-420F-9A82A2C86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25" y="365125"/>
            <a:ext cx="10515600" cy="1325563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label transfer </a:t>
            </a:r>
            <a:r>
              <a:rPr lang="en-US" dirty="0"/>
              <a:t>exercise: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57C802-DC94-5134-415F-3E8D0018E434}"/>
                  </a:ext>
                </a:extLst>
              </p:cNvPr>
              <p:cNvSpPr txBox="1"/>
              <p:nvPr/>
            </p:nvSpPr>
            <p:spPr>
              <a:xfrm>
                <a:off x="3263077" y="5512368"/>
                <a:ext cx="5665846" cy="8877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800" i="0">
                        <a:latin typeface="Cambria Math" panose="02040503050406030204" pitchFamily="18" charset="0"/>
                      </a:rPr>
                      <m:t>loss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2800" i="0">
                                <a:latin typeface="Cambria Math" panose="02040503050406030204" pitchFamily="18" charset="0"/>
                              </a:rPr>
                              <m:t>pred</m:t>
                            </m:r>
                          </m:sub>
                        </m:s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2800" i="0">
                                <a:latin typeface="Cambria Math" panose="02040503050406030204" pitchFamily="18" charset="0"/>
                              </a:rPr>
                              <m:t>true</m:t>
                            </m:r>
                          </m:sub>
                        </m:sSub>
                        <m:sSup>
                          <m:sSup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GB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GB" sz="2800" b="1" i="1" smtClean="0">
                                <a:solidFill>
                                  <a:schemeClr val="accent6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GB" sz="2800" b="1" i="0" smtClean="0">
                                <a:solidFill>
                                  <a:schemeClr val="accent6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𝐩𝐫𝐞𝐝</m:t>
                            </m:r>
                          </m:sub>
                        </m:sSub>
                        <m:sSup>
                          <m:sSupPr>
                            <m:ctrlPr>
                              <a:rPr lang="en-GB" sz="2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GB" sz="2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GB" sz="28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GB" sz="280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⁡((</m:t>
                    </m:r>
                    <m:sSub>
                      <m:sSubPr>
                        <m:ctrlPr>
                          <a:rPr lang="en-GB" sz="2800" b="1" i="1" smtClean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1" i="1" smtClean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GB" sz="2800" b="1" i="0" smtClean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𝐩𝐫𝐞𝐝</m:t>
                        </m:r>
                      </m:sub>
                    </m:sSub>
                    <m:sSup>
                      <m:sSup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757C802-DC94-5134-415F-3E8D0018E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077" y="5512368"/>
                <a:ext cx="5665846" cy="887744"/>
              </a:xfrm>
              <a:prstGeom prst="rect">
                <a:avLst/>
              </a:prstGeom>
              <a:blipFill>
                <a:blip r:embed="rId4"/>
                <a:stretch>
                  <a:fillRect l="-670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617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E4122-BE7C-504D-B03A-143ECF3AA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67326-0957-6C68-7DE2-67B198D4E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11BA06-041C-A140-9801-5C6D361A35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4978940" cy="44862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20% subset of the training data withheld to test the performance of the network</a:t>
                </a:r>
              </a:p>
              <a:p>
                <a:r>
                  <a:rPr lang="en-US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rPr>
                  <a:t>Residuals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rPr>
                  <a:t> 0.1 dex </a:t>
                </a:r>
                <a:r>
                  <a:rPr lang="en-US" dirty="0"/>
                  <a:t>on average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0" smtClean="0">
                        <a:latin typeface="Cambria Math" panose="02040503050406030204" pitchFamily="18" charset="0"/>
                      </a:rPr>
                      <m:t>=0.88</m:t>
                    </m:r>
                  </m:oMath>
                </a14:m>
                <a:r>
                  <a:rPr lang="en-US" dirty="0"/>
                  <a:t> (as compared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−2.1</m:t>
                    </m:r>
                  </m:oMath>
                </a14:m>
                <a:r>
                  <a:rPr lang="en-US" dirty="0"/>
                  <a:t> from the original GALAH DR4 Eu)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11BA06-041C-A140-9801-5C6D361A35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4978940" cy="4486275"/>
              </a:xfrm>
              <a:blipFill>
                <a:blip r:embed="rId2"/>
                <a:stretch>
                  <a:fillRect l="-2296" t="-2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411E8-CADE-533D-7EDA-A02176C94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 descr="A graph showing the results of a nuclear experiment&#10;&#10;AI-generated content may be incorrect.">
            <a:extLst>
              <a:ext uri="{FF2B5EF4-FFF2-40B4-BE49-F238E27FC236}">
                <a16:creationId xmlns:a16="http://schemas.microsoft.com/office/drawing/2014/main" id="{AE16E2F8-93EA-9BD5-750C-C2139FE07A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144"/>
          <a:stretch>
            <a:fillRect/>
          </a:stretch>
        </p:blipFill>
        <p:spPr>
          <a:xfrm>
            <a:off x="7277525" y="5508"/>
            <a:ext cx="4356756" cy="685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636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302D78-8BB8-934F-CDB5-20AF6B15924D}"/>
              </a:ext>
            </a:extLst>
          </p:cNvPr>
          <p:cNvSpPr/>
          <p:nvPr/>
        </p:nvSpPr>
        <p:spPr>
          <a:xfrm>
            <a:off x="6340651" y="870676"/>
            <a:ext cx="489302" cy="51263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DDC380-39A1-B8C8-37A1-87F86DA62C29}"/>
              </a:ext>
            </a:extLst>
          </p:cNvPr>
          <p:cNvSpPr/>
          <p:nvPr/>
        </p:nvSpPr>
        <p:spPr>
          <a:xfrm>
            <a:off x="6340650" y="5895883"/>
            <a:ext cx="5563939" cy="1793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5B952A-A38A-CCBB-DAB9-86A072714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DC4B4C-2D7C-D257-1A8F-F698CAD545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4978940" cy="44862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20% subset of the training data withheld to test the performance of the network</a:t>
                </a:r>
              </a:p>
              <a:p>
                <a:r>
                  <a:rPr lang="en-US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rPr>
                  <a:t>Residuals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rPr>
                  <a:t> 0.1 dex </a:t>
                </a:r>
                <a:r>
                  <a:rPr lang="en-US" dirty="0"/>
                  <a:t>on average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>
                        <a:latin typeface="Cambria Math" panose="02040503050406030204" pitchFamily="18" charset="0"/>
                      </a:rPr>
                      <m:t>=0.88</m:t>
                    </m:r>
                  </m:oMath>
                </a14:m>
                <a:r>
                  <a:rPr lang="en-US" dirty="0"/>
                  <a:t> (as compared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>
                        <a:latin typeface="Cambria Math" panose="02040503050406030204" pitchFamily="18" charset="0"/>
                      </a:rPr>
                      <m:t>=−2.1</m:t>
                    </m:r>
                  </m:oMath>
                </a14:m>
                <a:r>
                  <a:rPr lang="en-US" dirty="0"/>
                  <a:t> from the original GALAH DR4 Eu)</a:t>
                </a:r>
              </a:p>
              <a:p>
                <a:pPr lvl="1"/>
                <a:r>
                  <a:rPr lang="en-US" dirty="0"/>
                  <a:t>This performance ~holds true across the Kiel diagram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DC4B4C-2D7C-D257-1A8F-F698CAD545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4978940" cy="4486275"/>
              </a:xfrm>
              <a:blipFill>
                <a:blip r:embed="rId2"/>
                <a:stretch>
                  <a:fillRect l="-2296" t="-2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20196-3016-1610-2ACC-A41DD5AC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 descr="A diagram of a number of particles&#10;&#10;AI-generated content may be incorrect.">
            <a:extLst>
              <a:ext uri="{FF2B5EF4-FFF2-40B4-BE49-F238E27FC236}">
                <a16:creationId xmlns:a16="http://schemas.microsoft.com/office/drawing/2014/main" id="{CDA61174-86B6-39F5-183A-ABC530051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302" y="870676"/>
            <a:ext cx="5319288" cy="511664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Picture 4" descr="A diagram of a number of particles&#10;&#10;AI-generated content may be incorrect.">
            <a:extLst>
              <a:ext uri="{FF2B5EF4-FFF2-40B4-BE49-F238E27FC236}">
                <a16:creationId xmlns:a16="http://schemas.microsoft.com/office/drawing/2014/main" id="{1C1D9E96-CA3A-F40C-5733-F77371E6D2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249" t="94578" r="42539" b="584"/>
          <a:stretch>
            <a:fillRect/>
          </a:stretch>
        </p:blipFill>
        <p:spPr>
          <a:xfrm>
            <a:off x="8128000" y="5699873"/>
            <a:ext cx="2033531" cy="375398"/>
          </a:xfrm>
          <a:prstGeom prst="rect">
            <a:avLst/>
          </a:prstGeom>
        </p:spPr>
      </p:pic>
      <p:pic>
        <p:nvPicPr>
          <p:cNvPr id="7" name="Picture 6" descr="A diagram of a number of particles&#10;&#10;AI-generated content may be incorrect.">
            <a:extLst>
              <a:ext uri="{FF2B5EF4-FFF2-40B4-BE49-F238E27FC236}">
                <a16:creationId xmlns:a16="http://schemas.microsoft.com/office/drawing/2014/main" id="{186E6EAD-5A6D-9F2C-0AB5-A56E72404B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512" r="95316" b="45849"/>
          <a:stretch>
            <a:fillRect/>
          </a:stretch>
        </p:blipFill>
        <p:spPr>
          <a:xfrm>
            <a:off x="6457224" y="2899663"/>
            <a:ext cx="352140" cy="105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210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E124-B008-2C02-ED65-82E86478A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5E02DC2-CD0C-7F8D-A9FF-D11B1318688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7291449" y="1690687"/>
                <a:ext cx="4358244" cy="4486275"/>
              </a:xfrm>
            </p:spPr>
            <p:txBody>
              <a:bodyPr/>
              <a:lstStyle/>
              <a:p>
                <a:r>
                  <a:rPr lang="en-US" dirty="0"/>
                  <a:t>Colors correspond to how much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value decreases by “scrambling” that value</a:t>
                </a:r>
              </a:p>
              <a:p>
                <a:pPr lvl="1"/>
                <a:r>
                  <a:rPr lang="en-US" dirty="0"/>
                  <a:t>Darker blue </a:t>
                </a:r>
                <a:r>
                  <a:rPr lang="en-US" dirty="0">
                    <a:sym typeface="Wingdings" pitchFamily="2" charset="2"/>
                  </a:rPr>
                  <a:t> scrambling decreases performance  this feature is important!</a:t>
                </a:r>
              </a:p>
              <a:p>
                <a:r>
                  <a:rPr lang="en-US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sym typeface="Wingdings" pitchFamily="2" charset="2"/>
                  </a:rPr>
                  <a:t>[Fe/H] and the Eu line </a:t>
                </a:r>
                <a:r>
                  <a:rPr lang="en-US" dirty="0">
                    <a:sym typeface="Wingdings" pitchFamily="2" charset="2"/>
                  </a:rPr>
                  <a:t>are the most important features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5E02DC2-CD0C-7F8D-A9FF-D11B131868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291449" y="1690687"/>
                <a:ext cx="4358244" cy="4486275"/>
              </a:xfrm>
              <a:blipFill>
                <a:blip r:embed="rId2"/>
                <a:stretch>
                  <a:fillRect l="-2616" t="-2254" r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B4A67-15E6-0C8A-66FA-15779601B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25</a:t>
            </a:fld>
            <a:endParaRPr lang="en-US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85FEB612-5856-A815-4080-C833FFF68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72" y="1973879"/>
            <a:ext cx="5935457" cy="3919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451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63E45-F680-BBF5-8C24-A9ECDBD45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validation dataset cannot tell the whole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4AB1E-A66C-15FA-334D-05A14E917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43222" cy="4351338"/>
          </a:xfrm>
        </p:spPr>
        <p:txBody>
          <a:bodyPr/>
          <a:lstStyle/>
          <a:p>
            <a:r>
              <a:rPr lang="en-US" dirty="0"/>
              <a:t>By its nature, the </a:t>
            </a:r>
            <a:r>
              <a:rPr lang="en-US" u="sng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validation data is well-represented by the training data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is not necessarily true for the new data to which we apply the CNN!</a:t>
            </a:r>
          </a:p>
          <a:p>
            <a:r>
              <a:rPr lang="en-US" dirty="0"/>
              <a:t>For instance, the new DR4 data included </a:t>
            </a: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more cool </a:t>
            </a:r>
            <a:r>
              <a:rPr lang="en-US" dirty="0"/>
              <a:t>(T &lt; 4000 K) stars with </a:t>
            </a: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strange continuum normalization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EF8C3-AF0E-DBCD-D6C1-E82B8CEE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3F56EA-7BB1-30B3-0C47-8A0D9DDD5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422" y="1480272"/>
            <a:ext cx="4436177" cy="469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566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4088F-5F4A-0239-9419-56DC94CFB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C2A63-8256-755A-F2CA-2A5F9B94F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Metal-Poor Stars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0A5F5-AC0B-6A38-E460-60659016F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 descr="A graph showing the results of a nuclear experiment&#10;&#10;AI-generated content may be incorrect.">
            <a:extLst>
              <a:ext uri="{FF2B5EF4-FFF2-40B4-BE49-F238E27FC236}">
                <a16:creationId xmlns:a16="http://schemas.microsoft.com/office/drawing/2014/main" id="{513A43DA-6B98-6769-A84B-4F187476F2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152" b="11144"/>
          <a:stretch>
            <a:fillRect/>
          </a:stretch>
        </p:blipFill>
        <p:spPr>
          <a:xfrm>
            <a:off x="7060018" y="1690688"/>
            <a:ext cx="4669956" cy="394333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596F0CA-201D-6AA9-DBC8-88ABF809C65B}"/>
              </a:ext>
            </a:extLst>
          </p:cNvPr>
          <p:cNvSpPr txBox="1">
            <a:spLocks/>
          </p:cNvSpPr>
          <p:nvPr/>
        </p:nvSpPr>
        <p:spPr>
          <a:xfrm>
            <a:off x="838199" y="1690688"/>
            <a:ext cx="5694948" cy="480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Metal-poor stars have the lowest [Eu/H] values</a:t>
            </a:r>
          </a:p>
          <a:p>
            <a:r>
              <a:rPr lang="en-US" dirty="0"/>
              <a:t>Because of “regression towards the mean,” the </a:t>
            </a:r>
            <a:r>
              <a:rPr lang="en-US" u="sng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CNN consistently over-predicts [Eu/H] for low metallicity stars on the order of a few ~0.1 </a:t>
            </a:r>
            <a:r>
              <a:rPr lang="en-US" u="sng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dex</a:t>
            </a:r>
            <a:endParaRPr lang="en-US" u="sng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r>
              <a:rPr lang="en-US" dirty="0"/>
              <a:t>What </a:t>
            </a:r>
            <a:r>
              <a:rPr lang="en-US" i="1" dirty="0"/>
              <a:t>doesn’t</a:t>
            </a:r>
            <a:r>
              <a:rPr lang="en-US" dirty="0"/>
              <a:t> work?</a:t>
            </a:r>
          </a:p>
          <a:p>
            <a:pPr lvl="1"/>
            <a:r>
              <a:rPr lang="en-US" b="1" dirty="0"/>
              <a:t>Upweighting</a:t>
            </a:r>
            <a:r>
              <a:rPr lang="en-US" dirty="0"/>
              <a:t> metal-poor stars</a:t>
            </a:r>
          </a:p>
          <a:p>
            <a:pPr lvl="1"/>
            <a:r>
              <a:rPr lang="en-US" b="1" dirty="0" err="1"/>
              <a:t>Upsampling</a:t>
            </a:r>
            <a:r>
              <a:rPr lang="en-US" dirty="0"/>
              <a:t> metal-poor stars</a:t>
            </a:r>
          </a:p>
          <a:p>
            <a:pPr lvl="1"/>
            <a:r>
              <a:rPr lang="en-US" dirty="0"/>
              <a:t>Decreasing </a:t>
            </a:r>
            <a:r>
              <a:rPr lang="en-US" b="1" dirty="0"/>
              <a:t>SNR</a:t>
            </a:r>
            <a:r>
              <a:rPr lang="en-US" dirty="0"/>
              <a:t> requirements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751129-4270-6710-9EAF-74E479E121D1}"/>
              </a:ext>
            </a:extLst>
          </p:cNvPr>
          <p:cNvCxnSpPr/>
          <p:nvPr/>
        </p:nvCxnSpPr>
        <p:spPr>
          <a:xfrm>
            <a:off x="6188149" y="2870791"/>
            <a:ext cx="2179674" cy="55820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4160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806B0-3E16-0D95-4987-6DB0B0F3F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EE79B-1E90-CE4D-577A-63DCFAAE9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Metal-Poor Stars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C1B9C-9906-8DDB-3F8C-FF5B3288D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28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D67C45-7A55-6A6A-CB0F-A74BC490D414}"/>
              </a:ext>
            </a:extLst>
          </p:cNvPr>
          <p:cNvSpPr txBox="1">
            <a:spLocks/>
          </p:cNvSpPr>
          <p:nvPr/>
        </p:nvSpPr>
        <p:spPr>
          <a:xfrm>
            <a:off x="838199" y="1690688"/>
            <a:ext cx="5694948" cy="480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Metal-poor stars have the lowest [Eu/H] values</a:t>
            </a:r>
          </a:p>
          <a:p>
            <a:r>
              <a:rPr lang="en-US" dirty="0"/>
              <a:t>Because of “regression towards the mean,” the </a:t>
            </a:r>
            <a:r>
              <a:rPr lang="en-US" u="sng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CNN consistently over-predicts [Eu/H] for low metallicity stars on the order of a few ~0.1 </a:t>
            </a:r>
            <a:r>
              <a:rPr lang="en-US" u="sng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dex</a:t>
            </a:r>
            <a:endParaRPr lang="en-US" u="sng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Solution</a:t>
            </a:r>
            <a:r>
              <a:rPr lang="en-US" dirty="0"/>
              <a:t>: calculate Eu abundances for stars with [Fe/H] &lt;-1 using </a:t>
            </a:r>
            <a:r>
              <a:rPr lang="en-US" u="sng" dirty="0"/>
              <a:t>Korg</a:t>
            </a:r>
            <a:r>
              <a:rPr lang="en-US" dirty="0"/>
              <a:t> (Wheeler+ 2023, 2024)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B3B9CA-EFD3-B859-B335-8705F04FF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618" y="669851"/>
            <a:ext cx="5518298" cy="551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40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9985F-C911-628A-0E91-F6D271523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data-driven?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77399-8792-E0E9-7430-9C95BA101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444"/>
            <a:ext cx="5867400" cy="4607705"/>
          </a:xfrm>
        </p:spPr>
        <p:txBody>
          <a:bodyPr>
            <a:normAutofit/>
          </a:bodyPr>
          <a:lstStyle/>
          <a:p>
            <a:r>
              <a:rPr lang="en-US" dirty="0"/>
              <a:t>Computational </a:t>
            </a: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speed</a:t>
            </a:r>
          </a:p>
          <a:p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Consistency</a:t>
            </a:r>
            <a:r>
              <a:rPr lang="en-US" dirty="0"/>
              <a:t> with GALAH DR3</a:t>
            </a:r>
          </a:p>
          <a:p>
            <a:pPr lvl="1"/>
            <a:r>
              <a:rPr lang="en-US" sz="2800" dirty="0"/>
              <a:t>DR4 uses different methodology </a:t>
            </a:r>
            <a:r>
              <a:rPr lang="en-US" sz="2800" dirty="0">
                <a:sym typeface="Wingdings" pitchFamily="2" charset="2"/>
              </a:rPr>
              <a:t> different stellar parameters, different abundances</a:t>
            </a:r>
          </a:p>
          <a:p>
            <a:pPr lvl="1"/>
            <a:r>
              <a:rPr lang="en-US" sz="2800" dirty="0">
                <a:sym typeface="Wingdings" pitchFamily="2" charset="2"/>
              </a:rPr>
              <a:t>A different radiative transfer code (e.g., Korg) using DR4 stellar parameters cannot reproduce GALAH DR3 [Eu/H] abundances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8A37F-632C-CFA7-70A4-34CE35588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29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87A61EB-E026-8CB8-950C-4F7E53FFD8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19" r="67778"/>
          <a:stretch>
            <a:fillRect/>
          </a:stretch>
        </p:blipFill>
        <p:spPr bwMode="auto">
          <a:xfrm>
            <a:off x="6784624" y="1027906"/>
            <a:ext cx="5046134" cy="5037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16956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445C3-94E0-4503-652E-D0638A8BC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golden sample of Eu abundances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24436F-2139-BC22-7ADE-AA1E7F3418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Giant stars with: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eff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&gt;4000</m:t>
                    </m:r>
                  </m:oMath>
                </a14:m>
                <a:r>
                  <a:rPr lang="en-US" sz="2800" dirty="0"/>
                  <a:t> K</a:t>
                </a:r>
              </a:p>
              <a:p>
                <a:pPr lvl="1"/>
                <a:r>
                  <a:rPr lang="en-US" sz="2800" dirty="0"/>
                  <a:t>[Fe/H]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1.7</m:t>
                    </m:r>
                  </m:oMath>
                </a14:m>
                <a:endParaRPr lang="en-US" sz="2800" dirty="0"/>
              </a:p>
              <a:p>
                <a:pPr lvl="1"/>
                <a:r>
                  <a:rPr lang="en-US" sz="2800" dirty="0"/>
                  <a:t>No continuum normalization issues</a:t>
                </a:r>
              </a:p>
              <a:p>
                <a:pPr lvl="1"/>
                <a:r>
                  <a:rPr lang="en-US" sz="2800" dirty="0"/>
                  <a:t>Eu line depth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&gt;0.01</m:t>
                    </m:r>
                  </m:oMath>
                </a14:m>
                <a:endParaRPr lang="en-US" sz="2800" dirty="0"/>
              </a:p>
              <a:p>
                <a:r>
                  <a:rPr lang="en-US" dirty="0"/>
                  <a:t>Korg abundances are used for all metal-poor stars ([Fe/H]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−1.0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</a:rPr>
                  <a:t>54,068 stars </a:t>
                </a:r>
                <a:r>
                  <a:rPr lang="en-US" dirty="0"/>
                  <a:t>total</a:t>
                </a:r>
              </a:p>
              <a:p>
                <a:endParaRPr lang="en-US" dirty="0"/>
              </a:p>
              <a:p>
                <a:pPr lvl="1"/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24436F-2139-BC22-7ADE-AA1E7F3418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30FCF-9390-944A-2721-F11232180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6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5F99F-64DE-D2D8-202E-2A1A17E8B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Science Validation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5A6DE-7E44-5E31-A06B-EB40222AF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AKA: Does the catalogue work?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3565D-8451-B239-3A07-3CB1D251E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999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3E719-B406-713D-6A80-79600CCC6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showing different types of objects&#10;&#10;AI-generated content may be incorrect.">
            <a:extLst>
              <a:ext uri="{FF2B5EF4-FFF2-40B4-BE49-F238E27FC236}">
                <a16:creationId xmlns:a16="http://schemas.microsoft.com/office/drawing/2014/main" id="{1644638F-9E70-2CD6-81BB-11DC21530B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415" r="272" b="36576"/>
          <a:stretch>
            <a:fillRect/>
          </a:stretch>
        </p:blipFill>
        <p:spPr>
          <a:xfrm>
            <a:off x="578224" y="680996"/>
            <a:ext cx="10257750" cy="2748004"/>
          </a:xfrm>
          <a:prstGeom prst="rect">
            <a:avLst/>
          </a:prstGeom>
        </p:spPr>
      </p:pic>
      <p:pic>
        <p:nvPicPr>
          <p:cNvPr id="9" name="Picture 8" descr="A group of graphs showing different types of objects&#10;&#10;AI-generated content may be incorrect.">
            <a:extLst>
              <a:ext uri="{FF2B5EF4-FFF2-40B4-BE49-F238E27FC236}">
                <a16:creationId xmlns:a16="http://schemas.microsoft.com/office/drawing/2014/main" id="{866AB24F-8E79-B5EE-B729-14DDF2388E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-3391" r="270" b="95318"/>
          <a:stretch>
            <a:fillRect/>
          </a:stretch>
        </p:blipFill>
        <p:spPr>
          <a:xfrm>
            <a:off x="578222" y="-73117"/>
            <a:ext cx="10257752" cy="7647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DEF986-E227-34BA-27F8-EAC34AD0FC41}"/>
              </a:ext>
            </a:extLst>
          </p:cNvPr>
          <p:cNvSpPr txBox="1"/>
          <p:nvPr/>
        </p:nvSpPr>
        <p:spPr>
          <a:xfrm rot="5400000">
            <a:off x="10458849" y="1620366"/>
            <a:ext cx="1942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With GALAH DR3</a:t>
            </a:r>
          </a:p>
          <a:p>
            <a:r>
              <a:rPr lang="en-US" dirty="0"/>
              <a:t>Monty+ 2024</a:t>
            </a:r>
          </a:p>
        </p:txBody>
      </p:sp>
      <p:pic>
        <p:nvPicPr>
          <p:cNvPr id="15" name="New picture">
            <a:extLst>
              <a:ext uri="{FF2B5EF4-FFF2-40B4-BE49-F238E27FC236}">
                <a16:creationId xmlns:a16="http://schemas.microsoft.com/office/drawing/2014/main" id="{076FC6C9-09AA-2AD6-875E-C4641AA352AF}"/>
              </a:ext>
            </a:extLst>
          </p:cNvPr>
          <p:cNvPicPr/>
          <p:nvPr/>
        </p:nvPicPr>
        <p:blipFill>
          <a:blip r:embed="rId4"/>
          <a:srcRect t="34470" r="1207" b="35385"/>
          <a:stretch>
            <a:fillRect/>
          </a:stretch>
        </p:blipFill>
        <p:spPr>
          <a:xfrm>
            <a:off x="578222" y="680995"/>
            <a:ext cx="10257750" cy="2839446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B205AB7-0DD7-3500-160C-0B8C3E7D7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4" descr="A group of graphs showing different types of objects&#10;&#10;AI-generated content may be incorrect.">
            <a:extLst>
              <a:ext uri="{FF2B5EF4-FFF2-40B4-BE49-F238E27FC236}">
                <a16:creationId xmlns:a16="http://schemas.microsoft.com/office/drawing/2014/main" id="{5DFBDCF6-E1DA-5633-74D1-8E055858AE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" t="92030" r="240" b="961"/>
          <a:stretch>
            <a:fillRect/>
          </a:stretch>
        </p:blipFill>
        <p:spPr>
          <a:xfrm>
            <a:off x="578222" y="3200880"/>
            <a:ext cx="10257750" cy="663829"/>
          </a:xfrm>
          <a:prstGeom prst="rect">
            <a:avLst/>
          </a:prstGeom>
        </p:spPr>
      </p:pic>
      <p:pic>
        <p:nvPicPr>
          <p:cNvPr id="2" name="New picture">
            <a:extLst>
              <a:ext uri="{FF2B5EF4-FFF2-40B4-BE49-F238E27FC236}">
                <a16:creationId xmlns:a16="http://schemas.microsoft.com/office/drawing/2014/main" id="{52D6E048-E015-5D5B-6876-A320ED4073E2}"/>
              </a:ext>
            </a:extLst>
          </p:cNvPr>
          <p:cNvPicPr/>
          <p:nvPr/>
        </p:nvPicPr>
        <p:blipFill>
          <a:blip r:embed="rId4"/>
          <a:srcRect t="34470" r="92509" b="35385"/>
          <a:stretch>
            <a:fillRect/>
          </a:stretch>
        </p:blipFill>
        <p:spPr>
          <a:xfrm>
            <a:off x="578222" y="655086"/>
            <a:ext cx="777804" cy="28394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E59795-6F2B-95E9-B123-4B2F9565D372}"/>
                  </a:ext>
                </a:extLst>
              </p:cNvPr>
              <p:cNvSpPr txBox="1"/>
              <p:nvPr/>
            </p:nvSpPr>
            <p:spPr>
              <a:xfrm>
                <a:off x="578223" y="4122778"/>
                <a:ext cx="1025775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Gaia-Sausage/Enceladus and accreted stars shown to be </a:t>
                </a:r>
                <a:r>
                  <a:rPr lang="en-US" sz="2400" b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elevated in Eu </a:t>
                </a:r>
                <a:r>
                  <a:rPr lang="en-US" sz="2400" dirty="0"/>
                  <a:t>compared to </a:t>
                </a:r>
                <a:r>
                  <a:rPr lang="en-US" sz="2400" i="1" dirty="0"/>
                  <a:t>in situ </a:t>
                </a:r>
                <a:r>
                  <a:rPr lang="en-US" sz="2400" dirty="0"/>
                  <a:t>stars  (Matsuno+ 2021, Aguado+ 2021)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Monty+ 2024 demonstrates that this chemical separation is further </a:t>
                </a:r>
                <a:r>
                  <a:rPr lang="en-US" sz="2400" b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improved by using [Eu/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2400" b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rPr>
                  <a:t>]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E59795-6F2B-95E9-B123-4B2F9565D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223" y="4122778"/>
                <a:ext cx="10257750" cy="1938992"/>
              </a:xfrm>
              <a:prstGeom prst="rect">
                <a:avLst/>
              </a:prstGeom>
              <a:blipFill>
                <a:blip r:embed="rId5"/>
                <a:stretch>
                  <a:fillRect l="-865" t="-2597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FFEC9914-8F13-BF9C-9105-91F9BC10DB0D}"/>
              </a:ext>
            </a:extLst>
          </p:cNvPr>
          <p:cNvSpPr/>
          <p:nvPr/>
        </p:nvSpPr>
        <p:spPr>
          <a:xfrm>
            <a:off x="4834761" y="2656923"/>
            <a:ext cx="1156138" cy="4624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ysClr val="windowText" lastClr="000000"/>
                </a:solidFill>
              </a:rPr>
              <a:t>In situ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C09CDE-9B6A-5DB7-B9E8-ADD0F24F927B}"/>
              </a:ext>
            </a:extLst>
          </p:cNvPr>
          <p:cNvSpPr/>
          <p:nvPr/>
        </p:nvSpPr>
        <p:spPr>
          <a:xfrm>
            <a:off x="4834761" y="912318"/>
            <a:ext cx="1156138" cy="4624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Accreted</a:t>
            </a:r>
          </a:p>
        </p:txBody>
      </p:sp>
      <p:pic>
        <p:nvPicPr>
          <p:cNvPr id="3" name="New picture">
            <a:extLst>
              <a:ext uri="{FF2B5EF4-FFF2-40B4-BE49-F238E27FC236}">
                <a16:creationId xmlns:a16="http://schemas.microsoft.com/office/drawing/2014/main" id="{7A8995D9-5769-8D97-A2B2-376194854D49}"/>
              </a:ext>
            </a:extLst>
          </p:cNvPr>
          <p:cNvPicPr/>
          <p:nvPr/>
        </p:nvPicPr>
        <p:blipFill>
          <a:blip r:embed="rId4"/>
          <a:srcRect l="20782" t="1748" r="71726" b="94976"/>
          <a:stretch>
            <a:fillRect/>
          </a:stretch>
        </p:blipFill>
        <p:spPr>
          <a:xfrm>
            <a:off x="2706491" y="346455"/>
            <a:ext cx="777804" cy="3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096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graphs showing different types of objects&#10;&#10;AI-generated content may be incorrect.">
            <a:extLst>
              <a:ext uri="{FF2B5EF4-FFF2-40B4-BE49-F238E27FC236}">
                <a16:creationId xmlns:a16="http://schemas.microsoft.com/office/drawing/2014/main" id="{A280032C-850D-128D-8AC9-4CBF9CC3CB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415" r="272" b="36576"/>
          <a:stretch>
            <a:fillRect/>
          </a:stretch>
        </p:blipFill>
        <p:spPr>
          <a:xfrm>
            <a:off x="578224" y="3429001"/>
            <a:ext cx="10257750" cy="2748004"/>
          </a:xfrm>
          <a:prstGeom prst="rect">
            <a:avLst/>
          </a:prstGeom>
        </p:spPr>
      </p:pic>
      <p:pic>
        <p:nvPicPr>
          <p:cNvPr id="4" name="Picture 3" descr="A group of graphs showing different types of objects&#10;&#10;AI-generated content may be incorrect.">
            <a:extLst>
              <a:ext uri="{FF2B5EF4-FFF2-40B4-BE49-F238E27FC236}">
                <a16:creationId xmlns:a16="http://schemas.microsoft.com/office/drawing/2014/main" id="{4E868F86-40CB-0BAA-6F9D-F5B5CE3348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415" r="272" b="36576"/>
          <a:stretch>
            <a:fillRect/>
          </a:stretch>
        </p:blipFill>
        <p:spPr>
          <a:xfrm>
            <a:off x="578224" y="680996"/>
            <a:ext cx="10257750" cy="2748004"/>
          </a:xfrm>
          <a:prstGeom prst="rect">
            <a:avLst/>
          </a:prstGeom>
        </p:spPr>
      </p:pic>
      <p:pic>
        <p:nvPicPr>
          <p:cNvPr id="5" name="Picture 4" descr="A group of graphs showing different types of objects&#10;&#10;AI-generated content may be incorrect.">
            <a:extLst>
              <a:ext uri="{FF2B5EF4-FFF2-40B4-BE49-F238E27FC236}">
                <a16:creationId xmlns:a16="http://schemas.microsoft.com/office/drawing/2014/main" id="{907D15BB-2EAC-53ED-5351-9CE903DF60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" t="92030" r="240" b="961"/>
          <a:stretch>
            <a:fillRect/>
          </a:stretch>
        </p:blipFill>
        <p:spPr>
          <a:xfrm>
            <a:off x="578225" y="5974493"/>
            <a:ext cx="10257750" cy="663829"/>
          </a:xfrm>
          <a:prstGeom prst="rect">
            <a:avLst/>
          </a:prstGeom>
        </p:spPr>
      </p:pic>
      <p:pic>
        <p:nvPicPr>
          <p:cNvPr id="9" name="Picture 8" descr="A group of graphs showing different types of objects&#10;&#10;AI-generated content may be incorrect.">
            <a:extLst>
              <a:ext uri="{FF2B5EF4-FFF2-40B4-BE49-F238E27FC236}">
                <a16:creationId xmlns:a16="http://schemas.microsoft.com/office/drawing/2014/main" id="{DA656F1B-8562-7199-A78E-32D8609602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-3391" r="270" b="95318"/>
          <a:stretch>
            <a:fillRect/>
          </a:stretch>
        </p:blipFill>
        <p:spPr>
          <a:xfrm>
            <a:off x="578222" y="-83750"/>
            <a:ext cx="10257752" cy="7647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84A6F4-C16F-45F8-7229-EF6B75B80352}"/>
              </a:ext>
            </a:extLst>
          </p:cNvPr>
          <p:cNvSpPr txBox="1"/>
          <p:nvPr/>
        </p:nvSpPr>
        <p:spPr>
          <a:xfrm rot="5400000">
            <a:off x="10458849" y="1620366"/>
            <a:ext cx="1942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With GALAH DR3</a:t>
            </a:r>
          </a:p>
          <a:p>
            <a:r>
              <a:rPr lang="en-US" dirty="0"/>
              <a:t>Monty+ 2024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5F9393-10F7-918E-A0D1-749341C77EBC}"/>
              </a:ext>
            </a:extLst>
          </p:cNvPr>
          <p:cNvSpPr txBox="1"/>
          <p:nvPr/>
        </p:nvSpPr>
        <p:spPr>
          <a:xfrm rot="5400000">
            <a:off x="10458850" y="4479837"/>
            <a:ext cx="1942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With GALAH DR4</a:t>
            </a:r>
          </a:p>
          <a:p>
            <a:r>
              <a:rPr lang="en-US" dirty="0"/>
              <a:t>Kane+ 2025</a:t>
            </a:r>
          </a:p>
        </p:txBody>
      </p:sp>
      <p:pic>
        <p:nvPicPr>
          <p:cNvPr id="15" name="New picture">
            <a:extLst>
              <a:ext uri="{FF2B5EF4-FFF2-40B4-BE49-F238E27FC236}">
                <a16:creationId xmlns:a16="http://schemas.microsoft.com/office/drawing/2014/main" id="{8498988D-10FA-A54E-5829-BE1A68788C5F}"/>
              </a:ext>
            </a:extLst>
          </p:cNvPr>
          <p:cNvPicPr/>
          <p:nvPr/>
        </p:nvPicPr>
        <p:blipFill>
          <a:blip r:embed="rId4"/>
          <a:srcRect t="34470" r="1207" b="35385"/>
          <a:stretch>
            <a:fillRect/>
          </a:stretch>
        </p:blipFill>
        <p:spPr>
          <a:xfrm>
            <a:off x="578222" y="680995"/>
            <a:ext cx="10257750" cy="2839446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849EE59-030A-D6A5-93E4-06F60A14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33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69A73A-EC16-62E1-EC8D-9FC7CDC83484}"/>
              </a:ext>
            </a:extLst>
          </p:cNvPr>
          <p:cNvSpPr/>
          <p:nvPr/>
        </p:nvSpPr>
        <p:spPr>
          <a:xfrm>
            <a:off x="4834761" y="2656923"/>
            <a:ext cx="1156138" cy="4624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ysClr val="windowText" lastClr="000000"/>
                </a:solidFill>
              </a:rPr>
              <a:t>In situ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9737FD-B08A-4713-D557-4588CB8B9942}"/>
              </a:ext>
            </a:extLst>
          </p:cNvPr>
          <p:cNvSpPr/>
          <p:nvPr/>
        </p:nvSpPr>
        <p:spPr>
          <a:xfrm>
            <a:off x="4834761" y="912318"/>
            <a:ext cx="1156138" cy="4624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Accreted</a:t>
            </a:r>
          </a:p>
        </p:txBody>
      </p:sp>
    </p:spTree>
    <p:extLst>
      <p:ext uri="{BB962C8B-B14F-4D97-AF65-F5344CB8AC3E}">
        <p14:creationId xmlns:p14="http://schemas.microsoft.com/office/powerpoint/2010/main" val="25598270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DBBF6ECF-96B9-CE01-BAB3-19D8EC9505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504"/>
          <a:stretch>
            <a:fillRect/>
          </a:stretch>
        </p:blipFill>
        <p:spPr>
          <a:xfrm>
            <a:off x="7296240" y="3645"/>
            <a:ext cx="4678515" cy="68543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52BD60-3BDA-1D2F-CC12-AEF0FD20B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 trends with metallicity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F5C73C-34DB-2DF5-6359-AE94A1640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34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A7DDFBE-494E-2B81-1324-303AC82FEF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8" t="19850" r="71140" b="74187"/>
          <a:stretch>
            <a:fillRect/>
          </a:stretch>
        </p:blipFill>
        <p:spPr bwMode="auto">
          <a:xfrm>
            <a:off x="8064335" y="4963886"/>
            <a:ext cx="546265" cy="581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41BEC3-B670-2766-95EE-B307DD3EF098}"/>
              </a:ext>
            </a:extLst>
          </p:cNvPr>
          <p:cNvSpPr txBox="1"/>
          <p:nvPr/>
        </p:nvSpPr>
        <p:spPr>
          <a:xfrm>
            <a:off x="8565192" y="4928261"/>
            <a:ext cx="1988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Zhao et al. (2016)</a:t>
            </a:r>
          </a:p>
          <a:p>
            <a:endParaRPr lang="en-US" sz="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Kobayashi et al. (2020)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C8287B-BAE5-2DC0-DF82-1F60D913924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896130" cy="43020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Clear pattern in [Eu/Fe] versus [Fe/H] (~age)</a:t>
            </a:r>
          </a:p>
          <a:p>
            <a:pPr lvl="1"/>
            <a:r>
              <a:rPr lang="en-US" dirty="0"/>
              <a:t>Difficult to interpret as a single trend due to contributions of in situ and accreted components (Monty+ 2024)</a:t>
            </a:r>
          </a:p>
          <a:p>
            <a:r>
              <a:rPr lang="en-US" dirty="0"/>
              <a:t>[Fe/H] &lt; -1: Higher Eu, with significant scatter</a:t>
            </a:r>
          </a:p>
          <a:p>
            <a:r>
              <a:rPr lang="en-US" dirty="0"/>
              <a:t>[Fe/H] &gt; -1: Steadily decreasing Eu with increasing Fe</a:t>
            </a:r>
          </a:p>
          <a:p>
            <a:pPr lvl="1"/>
            <a:r>
              <a:rPr lang="en-US" dirty="0"/>
              <a:t>Scatter decreases</a:t>
            </a:r>
          </a:p>
          <a:p>
            <a:endParaRPr lang="en-US" dirty="0"/>
          </a:p>
          <a:p>
            <a:pPr lvl="1"/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CCACE-7EC2-6428-8104-45AF84707D9B}"/>
              </a:ext>
            </a:extLst>
          </p:cNvPr>
          <p:cNvSpPr txBox="1"/>
          <p:nvPr/>
        </p:nvSpPr>
        <p:spPr>
          <a:xfrm>
            <a:off x="8064335" y="136525"/>
            <a:ext cx="1761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GALAH DR4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5E8970-4D46-46DE-7595-9861C16BEFD3}"/>
              </a:ext>
            </a:extLst>
          </p:cNvPr>
          <p:cNvSpPr txBox="1"/>
          <p:nvPr/>
        </p:nvSpPr>
        <p:spPr>
          <a:xfrm>
            <a:off x="8040162" y="3084580"/>
            <a:ext cx="1761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GALAH DR3</a:t>
            </a:r>
          </a:p>
        </p:txBody>
      </p:sp>
    </p:spTree>
    <p:extLst>
      <p:ext uri="{BB962C8B-B14F-4D97-AF65-F5344CB8AC3E}">
        <p14:creationId xmlns:p14="http://schemas.microsoft.com/office/powerpoint/2010/main" val="4553696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4A016-CE67-6205-0328-8489E71A8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 new catalog of Eu abundances for GALAH DR4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CCDA3-327C-8A16-5076-4F4D93CE7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050619" cy="435133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new catalog of CNN-based Eu abundances </a:t>
            </a:r>
            <a:r>
              <a:rPr lang="en-US" dirty="0"/>
              <a:t>for  118,946 GALAH DR4 stars with SNR &gt; 50</a:t>
            </a:r>
          </a:p>
          <a:p>
            <a:pPr lvl="1"/>
            <a:r>
              <a:rPr lang="en-US" dirty="0"/>
              <a:t>Includes a </a:t>
            </a: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“golden sample” of 54,068 giants</a:t>
            </a:r>
            <a:r>
              <a:rPr lang="en-US" dirty="0"/>
              <a:t>, with Korg synthesis for metal-poor stars</a:t>
            </a:r>
          </a:p>
          <a:p>
            <a:pPr lvl="1"/>
            <a:r>
              <a:rPr lang="en-US" dirty="0"/>
              <a:t>On a homogenous scale with GALAH DR3 [Eu/H]</a:t>
            </a:r>
          </a:p>
          <a:p>
            <a:r>
              <a:rPr lang="en-US" dirty="0"/>
              <a:t>Reproduces known science results</a:t>
            </a:r>
          </a:p>
          <a:p>
            <a:pPr lvl="1"/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Elevated [Eu/Fe] in accreted stars </a:t>
            </a:r>
            <a:r>
              <a:rPr lang="en-US" dirty="0"/>
              <a:t>as compared to in situ stars (Matsuno+ 2021, Aguado+ 2021, Monty+ 2024)</a:t>
            </a:r>
          </a:p>
          <a:p>
            <a:pPr lvl="1"/>
            <a:r>
              <a:rPr lang="en-US" dirty="0"/>
              <a:t>Known </a:t>
            </a: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Galactic chemical evolution </a:t>
            </a:r>
            <a:r>
              <a:rPr lang="en-US" dirty="0"/>
              <a:t>trends with [Fe/H] (see Kobayashi+ 2020)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7BF86-AC0A-BDA9-7233-7567BAA5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7DA1D-AD97-FD45-BF1D-CAB465F540AA}" type="slidenum">
              <a:rPr lang="en-US" smtClean="0"/>
              <a:t>35</a:t>
            </a:fld>
            <a:endParaRPr lang="en-US"/>
          </a:p>
        </p:txBody>
      </p:sp>
      <p:pic>
        <p:nvPicPr>
          <p:cNvPr id="5122" name="Picture 2" descr="QR Code Image">
            <a:extLst>
              <a:ext uri="{FF2B5EF4-FFF2-40B4-BE49-F238E27FC236}">
                <a16:creationId xmlns:a16="http://schemas.microsoft.com/office/drawing/2014/main" id="{64EBF04B-E721-08B0-014F-505E3B594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8669" y="1690688"/>
            <a:ext cx="1795131" cy="179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C7C6E4-0BE4-DC93-1134-19564127AFCA}"/>
              </a:ext>
            </a:extLst>
          </p:cNvPr>
          <p:cNvSpPr txBox="1"/>
          <p:nvPr/>
        </p:nvSpPr>
        <p:spPr>
          <a:xfrm>
            <a:off x="9596606" y="5850163"/>
            <a:ext cx="1719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Zenodo</a:t>
            </a:r>
            <a:r>
              <a:rPr lang="en-US" dirty="0"/>
              <a:t> catalog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B5B5E8-AF7A-F74A-3C64-99D762F6036B}"/>
              </a:ext>
            </a:extLst>
          </p:cNvPr>
          <p:cNvSpPr txBox="1"/>
          <p:nvPr/>
        </p:nvSpPr>
        <p:spPr>
          <a:xfrm>
            <a:off x="10075230" y="3480540"/>
            <a:ext cx="762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Paper</a:t>
            </a:r>
          </a:p>
        </p:txBody>
      </p:sp>
      <p:pic>
        <p:nvPicPr>
          <p:cNvPr id="5124" name="Picture 4" descr="QR Code Image">
            <a:extLst>
              <a:ext uri="{FF2B5EF4-FFF2-40B4-BE49-F238E27FC236}">
                <a16:creationId xmlns:a16="http://schemas.microsoft.com/office/drawing/2014/main" id="{93C5F001-1F3C-F197-2EE2-C58F7CF85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8665" y="4037530"/>
            <a:ext cx="1795132" cy="1795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6302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21338</TotalTime>
  <Words>1545</Words>
  <Application>Microsoft Macintosh PowerPoint</Application>
  <PresentationFormat>Widescreen</PresentationFormat>
  <Paragraphs>220</Paragraphs>
  <Slides>35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Aptos</vt:lpstr>
      <vt:lpstr>Aptos Display</vt:lpstr>
      <vt:lpstr>Arial</vt:lpstr>
      <vt:lpstr>Cambria Math</vt:lpstr>
      <vt:lpstr>Times New Roman</vt:lpstr>
      <vt:lpstr>Wingdings</vt:lpstr>
      <vt:lpstr>Office Theme</vt:lpstr>
      <vt:lpstr>A New Catalogue of Europium Abundances for GALAH DR4</vt:lpstr>
      <vt:lpstr>An era of large spectroscopic surveys</vt:lpstr>
      <vt:lpstr>Two approaches for stellar spectroscopy</vt:lpstr>
      <vt:lpstr>Two approaches for stellar spectroscopy</vt:lpstr>
      <vt:lpstr>Two approaches for stellar spectroscopy</vt:lpstr>
      <vt:lpstr>Two approaches for stellar spectroscopy</vt:lpstr>
      <vt:lpstr>PowerPoint Presentation</vt:lpstr>
      <vt:lpstr>PowerPoint Presentation</vt:lpstr>
      <vt:lpstr>Why does europium need its own catalogue?</vt:lpstr>
      <vt:lpstr>PowerPoint Presentation</vt:lpstr>
      <vt:lpstr>PowerPoint Presentation</vt:lpstr>
      <vt:lpstr>PowerPoint Presentation</vt:lpstr>
      <vt:lpstr>Europium and the r-process</vt:lpstr>
      <vt:lpstr>The GALAH Survey</vt:lpstr>
      <vt:lpstr>The GALAH Survey</vt:lpstr>
      <vt:lpstr>New europium abundances for GALAH DR4</vt:lpstr>
      <vt:lpstr>New europium abundances for GALAH DR4</vt:lpstr>
      <vt:lpstr>New europium abundances for GALAH DR4</vt:lpstr>
      <vt:lpstr>A label transfer exercise:</vt:lpstr>
      <vt:lpstr>A label transfer exercise:</vt:lpstr>
      <vt:lpstr>A label transfer exercise:</vt:lpstr>
      <vt:lpstr>A label transfer exercise:</vt:lpstr>
      <vt:lpstr>Validation Performance</vt:lpstr>
      <vt:lpstr>Validation Performance</vt:lpstr>
      <vt:lpstr>Feature Importance</vt:lpstr>
      <vt:lpstr>The validation dataset cannot tell the whole story</vt:lpstr>
      <vt:lpstr>Metal-Poor Stars</vt:lpstr>
      <vt:lpstr>Metal-Poor Stars</vt:lpstr>
      <vt:lpstr>Why data-driven?</vt:lpstr>
      <vt:lpstr>A golden sample of Eu abundances</vt:lpstr>
      <vt:lpstr>Science Validation</vt:lpstr>
      <vt:lpstr>PowerPoint Presentation</vt:lpstr>
      <vt:lpstr>PowerPoint Presentation</vt:lpstr>
      <vt:lpstr>Eu trends with metallicity</vt:lpstr>
      <vt:lpstr>A new catalog of Eu abundances for GALAH DR4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Kane</dc:creator>
  <cp:lastModifiedBy>Sarah Kane</cp:lastModifiedBy>
  <cp:revision>123</cp:revision>
  <dcterms:created xsi:type="dcterms:W3CDTF">2025-12-26T23:42:04Z</dcterms:created>
  <dcterms:modified xsi:type="dcterms:W3CDTF">2026-07-30T11:12:20Z</dcterms:modified>
</cp:coreProperties>
</file>